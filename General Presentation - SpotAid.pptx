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9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00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2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9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8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10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59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48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853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325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3232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99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72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89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040F5B-D0F7-7C40-DF49-2D2FE2F54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8800" dirty="0" err="1">
                <a:latin typeface="Bauhaus 93" panose="04030905020B02020C02" pitchFamily="82" charset="0"/>
              </a:rPr>
              <a:t>SpotAid</a:t>
            </a:r>
            <a:endParaRPr lang="it-IT" sz="8800" dirty="0">
              <a:latin typeface="Bauhaus 93" panose="04030905020B02020C02" pitchFamily="82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B2C81AD-A82E-618B-083E-DC8AC8E1B0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2800" cap="none" dirty="0">
                <a:latin typeface="Aptos SemiBold" panose="020F0502020204030204" pitchFamily="34" charset="0"/>
              </a:rPr>
              <a:t>… </a:t>
            </a:r>
            <a:r>
              <a:rPr lang="it-IT" sz="2800" cap="none" dirty="0" err="1">
                <a:latin typeface="Aptos SemiBold" panose="020F0502020204030204" pitchFamily="34" charset="0"/>
              </a:rPr>
              <a:t>at</a:t>
            </a:r>
            <a:r>
              <a:rPr lang="it-IT" sz="2800" cap="none" dirty="0">
                <a:latin typeface="Aptos SemiBold" panose="020F0502020204030204" pitchFamily="34" charset="0"/>
              </a:rPr>
              <a:t> the service of the Citizen</a:t>
            </a:r>
          </a:p>
        </p:txBody>
      </p:sp>
    </p:spTree>
    <p:extLst>
      <p:ext uri="{BB962C8B-B14F-4D97-AF65-F5344CB8AC3E}">
        <p14:creationId xmlns:p14="http://schemas.microsoft.com/office/powerpoint/2010/main" val="241063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CF658C-C75D-6795-D24E-1124A9CD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F0502020204030204" pitchFamily="34" charset="0"/>
              </a:rPr>
              <a:t>Premise</a:t>
            </a:r>
            <a:r>
              <a:rPr lang="it-IT" dirty="0">
                <a:latin typeface="Aptos ExtraBold" panose="020F0502020204030204" pitchFamily="34" charset="0"/>
              </a:rPr>
              <a:t>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42FDA6-4505-21D6-5AE4-C0B83691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5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noProof="0" dirty="0">
                <a:latin typeface="Aptos SemiBold" panose="020F0502020204030204" pitchFamily="34" charset="0"/>
              </a:rPr>
              <a:t>The current distribution system of pharmaceutical and </a:t>
            </a:r>
            <a:r>
              <a:rPr lang="en-GB" sz="2000" noProof="0" dirty="0" err="1">
                <a:latin typeface="Aptos SemiBold" panose="020F0502020204030204" pitchFamily="34" charset="0"/>
              </a:rPr>
              <a:t>parapharmaceutical</a:t>
            </a:r>
            <a:r>
              <a:rPr lang="en-GB" sz="2000" noProof="0" dirty="0">
                <a:latin typeface="Aptos SemiBold" panose="020F0502020204030204" pitchFamily="34" charset="0"/>
              </a:rPr>
              <a:t> products is managed by the pharmacies distributed on the municipal territory.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Some of them have distributors just outside or </a:t>
            </a:r>
            <a:r>
              <a:rPr lang="en-GB" sz="2000" dirty="0">
                <a:latin typeface="Aptos SemiBold" panose="020F0502020204030204" pitchFamily="34" charset="0"/>
              </a:rPr>
              <a:t>close to them, managed by the pharmacies themselves, that guarantee a 24H service.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During night hours and holidays, service is still granted by the presence of “pharmacies on duty”, that follow a specific schedule.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C645AA5-D1B4-F0FF-0A9F-7DFB36AEE2AD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17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4A49-B2C6-1945-3A06-CE43CF23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508F8-1E52-2A0B-144C-52B4BDD8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F0502020204030204" pitchFamily="34" charset="0"/>
              </a:rPr>
              <a:t>Limits of the </a:t>
            </a:r>
            <a:r>
              <a:rPr lang="it-IT" dirty="0" err="1">
                <a:latin typeface="Aptos SemiBold" panose="020F0502020204030204" pitchFamily="34" charset="0"/>
              </a:rPr>
              <a:t>current</a:t>
            </a:r>
            <a:r>
              <a:rPr lang="it-IT" dirty="0">
                <a:latin typeface="Aptos SemiBold" panose="020F0502020204030204" pitchFamily="34" charset="0"/>
              </a:rPr>
              <a:t> </a:t>
            </a:r>
            <a:r>
              <a:rPr lang="it-IT" dirty="0" err="1">
                <a:latin typeface="Aptos SemiBold" panose="020F0502020204030204" pitchFamily="34" charset="0"/>
              </a:rPr>
              <a:t>distribution</a:t>
            </a:r>
            <a:r>
              <a:rPr lang="it-IT" dirty="0">
                <a:latin typeface="Aptos SemiBold" panose="020F0502020204030204" pitchFamily="34" charset="0"/>
              </a:rPr>
              <a:t> system: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E4CB43-C81C-D955-4883-5364A20D4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821980" cy="4410084"/>
          </a:xfrm>
        </p:spPr>
        <p:txBody>
          <a:bodyPr>
            <a:normAutofit/>
          </a:bodyPr>
          <a:lstStyle/>
          <a:p>
            <a:r>
              <a:rPr lang="en-GB" sz="2000" noProof="0" dirty="0">
                <a:latin typeface="Aptos SemiBold" panose="020F0502020204030204" pitchFamily="34" charset="0"/>
              </a:rPr>
              <a:t>Pharmacies, even with their increase in number, and with a good coverage in the municipal territory, do not cover all the areas (City </a:t>
            </a:r>
            <a:r>
              <a:rPr lang="en-GB" sz="2000" noProof="0" dirty="0" err="1">
                <a:latin typeface="Aptos SemiBold" panose="020F0502020204030204" pitchFamily="34" charset="0"/>
              </a:rPr>
              <a:t>center</a:t>
            </a:r>
            <a:r>
              <a:rPr lang="en-GB" sz="2000" noProof="0" dirty="0">
                <a:latin typeface="Aptos SemiBold" panose="020F0502020204030204" pitchFamily="34" charset="0"/>
              </a:rPr>
              <a:t> and suburban areas)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The automatic distributors active on the territory, being almost always somewhat close to the pharmacies, have the same issue: the area coverage. 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Since the managements of these </a:t>
            </a:r>
            <a:r>
              <a:rPr lang="en-GB" sz="2000" dirty="0">
                <a:latin typeface="Aptos SemiBold" panose="020F0502020204030204" pitchFamily="34" charset="0"/>
              </a:rPr>
              <a:t>d</a:t>
            </a:r>
            <a:r>
              <a:rPr lang="en-GB" sz="2000" noProof="0" dirty="0" err="1">
                <a:latin typeface="Aptos SemiBold" panose="020F0502020204030204" pitchFamily="34" charset="0"/>
              </a:rPr>
              <a:t>istributors</a:t>
            </a:r>
            <a:r>
              <a:rPr lang="en-GB" sz="2000" noProof="0" dirty="0">
                <a:latin typeface="Aptos SemiBold" panose="020F0502020204030204" pitchFamily="34" charset="0"/>
              </a:rPr>
              <a:t> currently relies on the pharmacies, the situation cannot improve unless by increasing the number of them, which still have a considerable cost and risk (for the saturation of the market).</a:t>
            </a:r>
            <a:endParaRPr lang="it-IT" sz="2000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5B6FA56-F61D-5786-D239-A6D714BAF2A1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81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9AEB-28D6-6FF8-4F2B-B47BB1D4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69359C-4C5F-C1C3-3377-6DBBE2D7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 err="1">
                <a:latin typeface="Aptos SemiBold" panose="020F0502020204030204" pitchFamily="34" charset="0"/>
              </a:rPr>
              <a:t>Why</a:t>
            </a:r>
            <a:r>
              <a:rPr lang="it-IT" dirty="0">
                <a:latin typeface="Aptos SemiBold" panose="020F0502020204030204" pitchFamily="34" charset="0"/>
              </a:rPr>
              <a:t>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r>
              <a:rPr lang="it-IT" dirty="0">
                <a:latin typeface="Aptos SemiBold" panose="020F0502020204030204" pitchFamily="34" charset="0"/>
              </a:rPr>
              <a:t>?</a:t>
            </a:r>
            <a:endParaRPr lang="it-IT" dirty="0">
              <a:latin typeface="Bauhaus 93" panose="04030905020B02020C02" pitchFamily="82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619BA9-E2F2-64FD-4ADC-62C74B972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670099" cy="4410084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Aptos SemiBold" panose="020F0502020204030204" pitchFamily="34" charset="0"/>
              </a:rPr>
              <a:t>The </a:t>
            </a:r>
            <a:r>
              <a:rPr lang="it-IT" sz="2000" dirty="0" err="1">
                <a:latin typeface="Aptos SemiBold" panose="020F0502020204030204" pitchFamily="34" charset="0"/>
              </a:rPr>
              <a:t>objective</a:t>
            </a:r>
            <a:r>
              <a:rPr lang="it-IT" sz="2000" dirty="0">
                <a:latin typeface="Aptos SemiBold" panose="020F0502020204030204" pitchFamily="34" charset="0"/>
              </a:rPr>
              <a:t> of </a:t>
            </a:r>
            <a:r>
              <a:rPr lang="it-IT" sz="2000" dirty="0" err="1">
                <a:latin typeface="Aptos SemiBold" panose="020F0502020204030204" pitchFamily="34" charset="0"/>
              </a:rPr>
              <a:t>this</a:t>
            </a:r>
            <a:r>
              <a:rPr lang="it-IT" sz="2000" dirty="0">
                <a:latin typeface="Aptos SemiBold" panose="020F0502020204030204" pitchFamily="34" charset="0"/>
              </a:rPr>
              <a:t> project </a:t>
            </a:r>
            <a:r>
              <a:rPr lang="it-IT" sz="2000" dirty="0" err="1">
                <a:latin typeface="Aptos SemiBold" panose="020F0502020204030204" pitchFamily="34" charset="0"/>
              </a:rPr>
              <a:t>is</a:t>
            </a:r>
            <a:r>
              <a:rPr lang="it-IT" sz="2000" dirty="0">
                <a:latin typeface="Aptos SemiBold" panose="020F0502020204030204" pitchFamily="34" charset="0"/>
              </a:rPr>
              <a:t> to </a:t>
            </a:r>
            <a:r>
              <a:rPr lang="it-IT" sz="2000" dirty="0" err="1">
                <a:latin typeface="Aptos SemiBold" panose="020F0502020204030204" pitchFamily="34" charset="0"/>
              </a:rPr>
              <a:t>overcome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these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limits</a:t>
            </a:r>
            <a:r>
              <a:rPr lang="it-IT" sz="2000" dirty="0">
                <a:latin typeface="Aptos SemiBold" panose="020F0502020204030204" pitchFamily="34" charset="0"/>
              </a:rPr>
              <a:t> of </a:t>
            </a:r>
            <a:r>
              <a:rPr lang="it-IT" sz="2000" dirty="0" err="1">
                <a:latin typeface="Aptos SemiBold" panose="020F0502020204030204" pitchFamily="34" charset="0"/>
              </a:rPr>
              <a:t>today’s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distribution</a:t>
            </a:r>
            <a:r>
              <a:rPr lang="it-IT" sz="2000" dirty="0">
                <a:latin typeface="Aptos SemiBold" panose="020F0502020204030204" pitchFamily="34" charset="0"/>
              </a:rPr>
              <a:t> system, by </a:t>
            </a:r>
            <a:r>
              <a:rPr lang="it-IT" sz="2000" dirty="0" err="1">
                <a:latin typeface="Aptos SemiBold" panose="020F0502020204030204" pitchFamily="34" charset="0"/>
              </a:rPr>
              <a:t>creating</a:t>
            </a:r>
            <a:r>
              <a:rPr lang="it-IT" sz="2000" dirty="0">
                <a:latin typeface="Aptos SemiBold" panose="020F0502020204030204" pitchFamily="34" charset="0"/>
              </a:rPr>
              <a:t> a system </a:t>
            </a:r>
            <a:r>
              <a:rPr lang="it-IT" sz="2000" dirty="0" err="1">
                <a:latin typeface="Aptos SemiBold" panose="020F0502020204030204" pitchFamily="34" charset="0"/>
              </a:rPr>
              <a:t>that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does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not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aim</a:t>
            </a:r>
            <a:r>
              <a:rPr lang="it-IT" sz="2000" dirty="0">
                <a:latin typeface="Aptos SemiBold" panose="020F0502020204030204" pitchFamily="34" charset="0"/>
              </a:rPr>
              <a:t> to </a:t>
            </a:r>
            <a:r>
              <a:rPr lang="it-IT" sz="2000" dirty="0" err="1">
                <a:latin typeface="Aptos SemiBold" panose="020F0502020204030204" pitchFamily="34" charset="0"/>
              </a:rPr>
              <a:t>substitute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it</a:t>
            </a:r>
            <a:r>
              <a:rPr lang="it-IT" sz="2000" dirty="0">
                <a:latin typeface="Aptos SemiBold" panose="020F0502020204030204" pitchFamily="34" charset="0"/>
              </a:rPr>
              <a:t>, </a:t>
            </a:r>
            <a:r>
              <a:rPr lang="it-IT" sz="2000" dirty="0" err="1">
                <a:latin typeface="Aptos SemiBold" panose="020F0502020204030204" pitchFamily="34" charset="0"/>
              </a:rPr>
              <a:t>but</a:t>
            </a:r>
            <a:r>
              <a:rPr lang="it-IT" sz="2000" dirty="0">
                <a:latin typeface="Aptos SemiBold" panose="020F0502020204030204" pitchFamily="34" charset="0"/>
              </a:rPr>
              <a:t> to be </a:t>
            </a:r>
            <a:r>
              <a:rPr lang="it-IT" sz="2000" dirty="0" err="1">
                <a:latin typeface="Aptos SemiBold" panose="020F0502020204030204" pitchFamily="34" charset="0"/>
              </a:rPr>
              <a:t>integrated</a:t>
            </a:r>
            <a:r>
              <a:rPr lang="it-IT" sz="2000" dirty="0">
                <a:latin typeface="Aptos SemiBold" panose="020F0502020204030204" pitchFamily="34" charset="0"/>
              </a:rPr>
              <a:t> in </a:t>
            </a:r>
            <a:r>
              <a:rPr lang="it-IT" sz="2000" dirty="0" err="1">
                <a:latin typeface="Aptos SemiBold" panose="020F0502020204030204" pitchFamily="34" charset="0"/>
              </a:rPr>
              <a:t>it</a:t>
            </a:r>
            <a:r>
              <a:rPr lang="it-IT" sz="2000" dirty="0">
                <a:latin typeface="Aptos SemiBold" panose="020F0502020204030204" pitchFamily="34" charset="0"/>
              </a:rPr>
              <a:t>.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FD8183DE-E395-DF14-4F31-331AD83ACA37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  <p:pic>
        <p:nvPicPr>
          <p:cNvPr id="6" name="Immagine 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553B884-C2AF-286C-521F-0BEAFBF9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982" y="3902441"/>
            <a:ext cx="1964959" cy="196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1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E0F7-C2A0-30E3-3F88-41069AF0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3E2D62-5B54-4444-6A15-40F64D63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 err="1">
                <a:latin typeface="Aptos SemiBold" panose="020F0502020204030204" pitchFamily="34" charset="0"/>
              </a:rPr>
              <a:t>What</a:t>
            </a:r>
            <a:r>
              <a:rPr lang="it-IT" dirty="0">
                <a:latin typeface="Aptos SemiBold" panose="020F0502020204030204" pitchFamily="34" charset="0"/>
              </a:rPr>
              <a:t> </a:t>
            </a:r>
            <a:r>
              <a:rPr lang="it-IT" dirty="0" err="1">
                <a:latin typeface="Aptos SemiBold" panose="020F0502020204030204" pitchFamily="34" charset="0"/>
              </a:rPr>
              <a:t>even</a:t>
            </a:r>
            <a:r>
              <a:rPr lang="it-IT" dirty="0">
                <a:latin typeface="Aptos SemiBold" panose="020F0502020204030204" pitchFamily="34" charset="0"/>
              </a:rPr>
              <a:t> </a:t>
            </a:r>
            <a:r>
              <a:rPr lang="it-IT" dirty="0" err="1">
                <a:latin typeface="Aptos SemiBold" panose="020F0502020204030204" pitchFamily="34" charset="0"/>
              </a:rPr>
              <a:t>is</a:t>
            </a:r>
            <a:r>
              <a:rPr lang="it-IT" dirty="0">
                <a:latin typeface="Aptos SemiBold" panose="020F0502020204030204" pitchFamily="34" charset="0"/>
              </a:rPr>
              <a:t>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r>
              <a:rPr lang="it-IT" dirty="0">
                <a:latin typeface="Aptos SemiBold" panose="020F0502020204030204" pitchFamily="34" charset="0"/>
              </a:rPr>
              <a:t>?</a:t>
            </a:r>
            <a:endParaRPr lang="it-IT" dirty="0">
              <a:latin typeface="Bauhaus 93" panose="04030905020B02020C02" pitchFamily="82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1F44B1-91F0-B0EB-1C5F-11598C1C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821980" cy="4410084"/>
          </a:xfrm>
        </p:spPr>
        <p:txBody>
          <a:bodyPr>
            <a:normAutofit/>
          </a:bodyPr>
          <a:lstStyle/>
          <a:p>
            <a:r>
              <a:rPr lang="it-IT" sz="2000" dirty="0" err="1">
                <a:latin typeface="Aptos SemiBold" panose="020F0502020204030204" pitchFamily="34" charset="0"/>
              </a:rPr>
              <a:t>It’s</a:t>
            </a:r>
            <a:r>
              <a:rPr lang="it-IT" sz="2000" dirty="0">
                <a:latin typeface="Aptos SemiBold" panose="020F0502020204030204" pitchFamily="34" charset="0"/>
              </a:rPr>
              <a:t> a IOT system </a:t>
            </a:r>
            <a:r>
              <a:rPr lang="it-IT" sz="2000" dirty="0" err="1">
                <a:latin typeface="Aptos SemiBold" panose="020F0502020204030204" pitchFamily="34" charset="0"/>
              </a:rPr>
              <a:t>that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aims</a:t>
            </a:r>
            <a:r>
              <a:rPr lang="it-IT" sz="2000" dirty="0">
                <a:latin typeface="Aptos SemiBold" panose="020F0502020204030204" pitchFamily="34" charset="0"/>
              </a:rPr>
              <a:t> to </a:t>
            </a:r>
            <a:r>
              <a:rPr lang="it-IT" sz="2000" dirty="0" err="1">
                <a:latin typeface="Aptos SemiBold" panose="020F0502020204030204" pitchFamily="34" charset="0"/>
              </a:rPr>
              <a:t>provide</a:t>
            </a:r>
            <a:r>
              <a:rPr lang="it-IT" sz="2000" dirty="0">
                <a:latin typeface="Aptos SemiBold" panose="020F0502020204030204" pitchFamily="34" charset="0"/>
              </a:rPr>
              <a:t>:</a:t>
            </a:r>
          </a:p>
          <a:p>
            <a:pPr lvl="1"/>
            <a:r>
              <a:rPr lang="it-IT" sz="1800" dirty="0">
                <a:latin typeface="Aptos SemiBold" panose="020F0502020204030204" pitchFamily="34" charset="0"/>
              </a:rPr>
              <a:t>A </a:t>
            </a:r>
            <a:r>
              <a:rPr lang="it-IT" sz="1800" dirty="0" err="1">
                <a:latin typeface="Aptos SemiBold" panose="020F0502020204030204" pitchFamily="34" charset="0"/>
              </a:rPr>
              <a:t>broader</a:t>
            </a:r>
            <a:r>
              <a:rPr lang="it-IT" sz="1800" dirty="0">
                <a:latin typeface="Aptos SemiBold" panose="020F0502020204030204" pitchFamily="34" charset="0"/>
              </a:rPr>
              <a:t> placement of </a:t>
            </a:r>
            <a:r>
              <a:rPr lang="it-IT" sz="1800" dirty="0" err="1">
                <a:latin typeface="Aptos SemiBold" panose="020F0502020204030204" pitchFamily="34" charset="0"/>
              </a:rPr>
              <a:t>even</a:t>
            </a:r>
            <a:r>
              <a:rPr lang="it-IT" sz="1800" dirty="0">
                <a:latin typeface="Aptos SemiBold" panose="020F0502020204030204" pitchFamily="34" charset="0"/>
              </a:rPr>
              <a:t> more </a:t>
            </a:r>
            <a:r>
              <a:rPr lang="it-IT" sz="1800" dirty="0" err="1">
                <a:latin typeface="Aptos SemiBold" panose="020F0502020204030204" pitchFamily="34" charset="0"/>
              </a:rPr>
              <a:t>automatic</a:t>
            </a:r>
            <a:r>
              <a:rPr lang="it-IT" sz="1800" dirty="0">
                <a:latin typeface="Aptos SemiBold" panose="020F0502020204030204" pitchFamily="34" charset="0"/>
              </a:rPr>
              <a:t> </a:t>
            </a:r>
            <a:r>
              <a:rPr lang="it-IT" sz="1800" dirty="0" err="1">
                <a:latin typeface="Aptos SemiBold" panose="020F0502020204030204" pitchFamily="34" charset="0"/>
              </a:rPr>
              <a:t>distributors</a:t>
            </a:r>
            <a:r>
              <a:rPr lang="it-IT" sz="1800" dirty="0">
                <a:latin typeface="Aptos SemiBold" panose="020F0502020204030204" pitchFamily="34" charset="0"/>
              </a:rPr>
              <a:t>;</a:t>
            </a:r>
          </a:p>
          <a:p>
            <a:pPr lvl="1"/>
            <a:r>
              <a:rPr lang="it-IT" sz="1800" dirty="0">
                <a:latin typeface="Aptos SemiBold" panose="020F0502020204030204" pitchFamily="34" charset="0"/>
              </a:rPr>
              <a:t>To be </a:t>
            </a:r>
            <a:r>
              <a:rPr lang="it-IT" sz="1800" dirty="0" err="1">
                <a:latin typeface="Aptos SemiBold" panose="020F0502020204030204" pitchFamily="34" charset="0"/>
              </a:rPr>
              <a:t>directly</a:t>
            </a:r>
            <a:r>
              <a:rPr lang="it-IT" sz="1800" dirty="0">
                <a:latin typeface="Aptos SemiBold" panose="020F0502020204030204" pitchFamily="34" charset="0"/>
              </a:rPr>
              <a:t> </a:t>
            </a:r>
            <a:r>
              <a:rPr lang="it-IT" sz="1800" dirty="0" err="1">
                <a:latin typeface="Aptos SemiBold" panose="020F0502020204030204" pitchFamily="34" charset="0"/>
              </a:rPr>
              <a:t>managed</a:t>
            </a:r>
            <a:r>
              <a:rPr lang="it-IT" sz="1800" dirty="0">
                <a:latin typeface="Aptos SemiBold" panose="020F0502020204030204" pitchFamily="34" charset="0"/>
              </a:rPr>
              <a:t> by the City </a:t>
            </a:r>
            <a:r>
              <a:rPr lang="it-IT" sz="1800" dirty="0" err="1">
                <a:latin typeface="Aptos SemiBold" panose="020F0502020204030204" pitchFamily="34" charset="0"/>
              </a:rPr>
              <a:t>Council</a:t>
            </a:r>
            <a:r>
              <a:rPr lang="it-IT" sz="1800" dirty="0">
                <a:latin typeface="Aptos SemiBold" panose="020F0502020204030204" pitchFamily="34" charset="0"/>
              </a:rPr>
              <a:t>; </a:t>
            </a:r>
          </a:p>
          <a:p>
            <a:pPr lvl="1"/>
            <a:r>
              <a:rPr lang="it-IT" sz="1800" dirty="0">
                <a:latin typeface="Aptos SemiBold" panose="020F0502020204030204" pitchFamily="34" charset="0"/>
              </a:rPr>
              <a:t>The </a:t>
            </a:r>
            <a:r>
              <a:rPr lang="it-IT" sz="1800" dirty="0" err="1">
                <a:latin typeface="Aptos SemiBold" panose="020F0502020204030204" pitchFamily="34" charset="0"/>
              </a:rPr>
              <a:t>realization</a:t>
            </a:r>
            <a:r>
              <a:rPr lang="it-IT" sz="1800" dirty="0">
                <a:latin typeface="Aptos SemiBold" panose="020F0502020204030204" pitchFamily="34" charset="0"/>
              </a:rPr>
              <a:t>  of a </a:t>
            </a:r>
            <a:r>
              <a:rPr lang="it-IT" sz="1800" dirty="0" err="1">
                <a:latin typeface="Aptos SemiBold" panose="020F0502020204030204" pitchFamily="34" charset="0"/>
              </a:rPr>
              <a:t>dedicated</a:t>
            </a:r>
            <a:r>
              <a:rPr lang="it-IT" sz="1800" dirty="0">
                <a:latin typeface="Aptos SemiBold" panose="020F0502020204030204" pitchFamily="34" charset="0"/>
              </a:rPr>
              <a:t> network to link the </a:t>
            </a:r>
            <a:r>
              <a:rPr lang="it-IT" sz="1800" dirty="0" err="1">
                <a:latin typeface="Aptos SemiBold" panose="020F0502020204030204" pitchFamily="34" charset="0"/>
              </a:rPr>
              <a:t>distributors</a:t>
            </a:r>
            <a:r>
              <a:rPr lang="it-IT" sz="1800" dirty="0">
                <a:latin typeface="Aptos SemiBold" panose="020F0502020204030204" pitchFamily="34" charset="0"/>
              </a:rPr>
              <a:t> to a management service;</a:t>
            </a:r>
          </a:p>
          <a:p>
            <a:pPr lvl="1"/>
            <a:r>
              <a:rPr lang="it-IT" sz="1800" dirty="0">
                <a:latin typeface="Aptos SemiBold" panose="020F0502020204030204" pitchFamily="34" charset="0"/>
              </a:rPr>
              <a:t>The </a:t>
            </a:r>
            <a:r>
              <a:rPr lang="it-IT" sz="1800" dirty="0" err="1">
                <a:latin typeface="Aptos SemiBold" panose="020F0502020204030204" pitchFamily="34" charset="0"/>
              </a:rPr>
              <a:t>creation</a:t>
            </a:r>
            <a:r>
              <a:rPr lang="it-IT" sz="1800" dirty="0">
                <a:latin typeface="Aptos SemiBold" panose="020F0502020204030204" pitchFamily="34" charset="0"/>
              </a:rPr>
              <a:t> of a website </a:t>
            </a:r>
            <a:r>
              <a:rPr lang="it-IT" sz="1800" dirty="0" err="1">
                <a:latin typeface="Aptos SemiBold" panose="020F0502020204030204" pitchFamily="34" charset="0"/>
              </a:rPr>
              <a:t>used</a:t>
            </a:r>
            <a:r>
              <a:rPr lang="it-IT" sz="1800" dirty="0">
                <a:latin typeface="Aptos SemiBold" panose="020F0502020204030204" pitchFamily="34" charset="0"/>
              </a:rPr>
              <a:t> to check </a:t>
            </a:r>
            <a:r>
              <a:rPr lang="it-IT" sz="1800" dirty="0" err="1">
                <a:latin typeface="Aptos SemiBold" panose="020F0502020204030204" pitchFamily="34" charset="0"/>
              </a:rPr>
              <a:t>useful</a:t>
            </a:r>
            <a:r>
              <a:rPr lang="it-IT" sz="1800" dirty="0">
                <a:latin typeface="Aptos SemiBold" panose="020F0502020204030204" pitchFamily="34" charset="0"/>
              </a:rPr>
              <a:t> </a:t>
            </a:r>
            <a:r>
              <a:rPr lang="it-IT" sz="1800" dirty="0" err="1">
                <a:latin typeface="Aptos SemiBold" panose="020F0502020204030204" pitchFamily="34" charset="0"/>
              </a:rPr>
              <a:t>informations</a:t>
            </a:r>
            <a:r>
              <a:rPr lang="it-IT" sz="1800" dirty="0">
                <a:latin typeface="Aptos SemiBold" panose="020F0502020204030204" pitchFamily="34" charset="0"/>
              </a:rPr>
              <a:t> for </a:t>
            </a:r>
            <a:r>
              <a:rPr lang="it-IT" sz="1800" dirty="0" err="1">
                <a:latin typeface="Aptos SemiBold" panose="020F0502020204030204" pitchFamily="34" charset="0"/>
              </a:rPr>
              <a:t>both</a:t>
            </a:r>
            <a:r>
              <a:rPr lang="it-IT" sz="1800" dirty="0">
                <a:latin typeface="Aptos SemiBold" panose="020F0502020204030204" pitchFamily="34" charset="0"/>
              </a:rPr>
              <a:t> the consumers and the service management team; </a:t>
            </a:r>
            <a:endParaRPr lang="it-IT" dirty="0">
              <a:latin typeface="Aptos SemiBold" panose="020F0502020204030204" pitchFamily="34" charset="0"/>
            </a:endParaRPr>
          </a:p>
          <a:p>
            <a:endParaRPr lang="it-IT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92C859B0-FB28-7544-A260-7F3F3C2CC534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24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CB96-9EE1-499A-C2EF-D16255A1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F7CD49-6A27-0B1F-28CB-1DB72725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F0502020204030204" pitchFamily="34" charset="0"/>
              </a:rPr>
              <a:t>The </a:t>
            </a:r>
            <a:r>
              <a:rPr lang="it-IT" dirty="0" err="1">
                <a:latin typeface="Aptos SemiBold" panose="020F0502020204030204" pitchFamily="34" charset="0"/>
              </a:rPr>
              <a:t>pros</a:t>
            </a:r>
            <a:r>
              <a:rPr lang="it-IT" dirty="0">
                <a:latin typeface="Aptos SemiBold" panose="020F0502020204030204" pitchFamily="34" charset="0"/>
              </a:rPr>
              <a:t> of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endParaRPr lang="it-IT" dirty="0">
              <a:latin typeface="Bauhaus 93" panose="04030905020B02020C02" pitchFamily="82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EF39B6-F2A9-18BA-8A13-6BEA5F7B8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821980" cy="4410084"/>
          </a:xfrm>
        </p:spPr>
        <p:txBody>
          <a:bodyPr>
            <a:normAutofit/>
          </a:bodyPr>
          <a:lstStyle/>
          <a:p>
            <a:r>
              <a:rPr lang="en-GB" sz="2000" noProof="0" dirty="0" err="1">
                <a:latin typeface="Bauhaus 93" panose="04030905020B02020C02" pitchFamily="82" charset="0"/>
              </a:rPr>
              <a:t>SpotAid</a:t>
            </a:r>
            <a:r>
              <a:rPr lang="en-GB" sz="2000" noProof="0" dirty="0">
                <a:latin typeface="Bauhaus 93" panose="04030905020B02020C02" pitchFamily="82" charset="0"/>
              </a:rPr>
              <a:t> </a:t>
            </a:r>
            <a:r>
              <a:rPr lang="en-GB" sz="2000" noProof="0" dirty="0">
                <a:latin typeface="Aptos SemiBold" panose="020F0502020204030204" pitchFamily="34" charset="0"/>
              </a:rPr>
              <a:t>represents a sort of upgrade to the</a:t>
            </a:r>
            <a:r>
              <a:rPr lang="en-GB" sz="2000" dirty="0">
                <a:latin typeface="Aptos SemiBold" panose="020F0502020204030204" pitchFamily="34" charset="0"/>
              </a:rPr>
              <a:t> current</a:t>
            </a:r>
            <a:r>
              <a:rPr lang="en-GB" sz="2000" noProof="0" dirty="0">
                <a:latin typeface="Aptos SemiBold" panose="020F0502020204030204" pitchFamily="34" charset="0"/>
              </a:rPr>
              <a:t> system, since the new solution is going to be integrated in it and closes the gap for the needs of the citizens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The management by the City Council guarantees the </a:t>
            </a:r>
            <a:r>
              <a:rPr lang="en-GB" sz="2000" dirty="0">
                <a:latin typeface="Aptos SemiBold" panose="020F0502020204030204" pitchFamily="34" charset="0"/>
              </a:rPr>
              <a:t>optimal placements of the distributors, based on various criteria (es: population density, distance to the pharmacies, etc…).</a:t>
            </a:r>
            <a:endParaRPr lang="en-GB" sz="2000" noProof="0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D1D4F2C6-0C51-2E1C-4D54-2567AF964422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  <p:pic>
        <p:nvPicPr>
          <p:cNvPr id="6" name="Immagine 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9B0CBDED-20D6-1438-F4AD-66B755D0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5766" y="4454525"/>
            <a:ext cx="1667179" cy="1667179"/>
          </a:xfrm>
          <a:prstGeom prst="rect">
            <a:avLst/>
          </a:prstGeom>
        </p:spPr>
      </p:pic>
      <p:pic>
        <p:nvPicPr>
          <p:cNvPr id="8" name="Immagine 7" descr="Immagine che contiene Elementi grafici, clipart, simbolo, bianco&#10;&#10;Il contenuto generato dall'IA potrebbe non essere corretto.">
            <a:extLst>
              <a:ext uri="{FF2B5EF4-FFF2-40B4-BE49-F238E27FC236}">
                <a16:creationId xmlns:a16="http://schemas.microsoft.com/office/drawing/2014/main" id="{DBD7AE11-0750-D1D2-BB61-A4846C654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9" b="89872" l="4524" r="95952">
                        <a14:foregroundMark x1="14524" y1="64494" x2="14524" y2="64494"/>
                        <a14:foregroundMark x1="31310" y1="58207" x2="31310" y2="58207"/>
                        <a14:foregroundMark x1="75000" y1="57276" x2="75000" y2="57276"/>
                        <a14:foregroundMark x1="79524" y1="79511" x2="79524" y2="79511"/>
                        <a14:foregroundMark x1="27262" y1="83120" x2="27262" y2="83120"/>
                        <a14:foregroundMark x1="4524" y1="86263" x2="4524" y2="86263"/>
                        <a14:foregroundMark x1="95952" y1="85797" x2="95952" y2="857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6285" y="4275531"/>
            <a:ext cx="1980375" cy="2025169"/>
          </a:xfrm>
          <a:prstGeom prst="rect">
            <a:avLst/>
          </a:prstGeom>
        </p:spPr>
      </p:pic>
      <p:pic>
        <p:nvPicPr>
          <p:cNvPr id="10" name="Immagine 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8ED70509-4E36-3517-AE43-53456F708F2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75477" y="4734594"/>
            <a:ext cx="420277" cy="4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0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3C37-0F02-B5C7-B8E3-143544F7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447D4B-AC92-3D0E-828D-AE6D332A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B0004020202020204" pitchFamily="34" charset="0"/>
              </a:rPr>
              <a:t>The </a:t>
            </a:r>
            <a:r>
              <a:rPr lang="it-IT" dirty="0" err="1">
                <a:latin typeface="Aptos SemiBold" panose="020B0004020202020204" pitchFamily="34" charset="0"/>
              </a:rPr>
              <a:t>pros</a:t>
            </a:r>
            <a:r>
              <a:rPr lang="it-IT" dirty="0">
                <a:latin typeface="Aptos SemiBold" panose="020B0004020202020204" pitchFamily="34" charset="0"/>
              </a:rPr>
              <a:t> of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r>
              <a:rPr lang="it-IT" dirty="0">
                <a:latin typeface="Bauhaus 93" panose="04030905020B02020C02" pitchFamily="82" charset="0"/>
              </a:rPr>
              <a:t> </a:t>
            </a:r>
            <a:r>
              <a:rPr lang="it-IT" dirty="0">
                <a:latin typeface="Aptos SemiBold" panose="020B0004020202020204" pitchFamily="34" charset="0"/>
              </a:rPr>
              <a:t>for the Citizen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6CB411-07BC-48EB-9C00-1C6CF35A2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821980" cy="4410084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Aptos SemiBold" panose="020F0502020204030204" pitchFamily="34" charset="0"/>
              </a:rPr>
              <a:t>The </a:t>
            </a:r>
            <a:r>
              <a:rPr lang="it-IT" sz="2000" dirty="0" err="1">
                <a:latin typeface="Aptos SemiBold" panose="020F0502020204030204" pitchFamily="34" charset="0"/>
              </a:rPr>
              <a:t>possibility</a:t>
            </a:r>
            <a:r>
              <a:rPr lang="it-IT" sz="2000" dirty="0">
                <a:latin typeface="Aptos SemiBold" panose="020F0502020204030204" pitchFamily="34" charset="0"/>
              </a:rPr>
              <a:t> to do a </a:t>
            </a:r>
            <a:r>
              <a:rPr lang="it-IT" sz="2000" dirty="0" err="1">
                <a:latin typeface="Aptos SemiBold" panose="020F0502020204030204" pitchFamily="34" charset="0"/>
              </a:rPr>
              <a:t>prior</a:t>
            </a:r>
            <a:r>
              <a:rPr lang="it-IT" sz="2000" dirty="0">
                <a:latin typeface="Aptos SemiBold" panose="020F0502020204030204" pitchFamily="34" charset="0"/>
              </a:rPr>
              <a:t> check of the </a:t>
            </a:r>
            <a:r>
              <a:rPr lang="it-IT" sz="2000" dirty="0" err="1">
                <a:latin typeface="Aptos SemiBold" panose="020F0502020204030204" pitchFamily="34" charset="0"/>
              </a:rPr>
              <a:t>available</a:t>
            </a:r>
            <a:r>
              <a:rPr lang="it-IT" sz="2000" dirty="0">
                <a:latin typeface="Aptos SemiBold" panose="020F0502020204030204" pitchFamily="34" charset="0"/>
              </a:rPr>
              <a:t> product on </a:t>
            </a:r>
            <a:r>
              <a:rPr lang="it-IT" sz="2000" dirty="0" err="1">
                <a:latin typeface="Aptos SemiBold" panose="020F0502020204030204" pitchFamily="34" charset="0"/>
              </a:rPr>
              <a:t>each</a:t>
            </a:r>
            <a:r>
              <a:rPr lang="it-IT" sz="2000" dirty="0">
                <a:latin typeface="Aptos SemiBold" panose="020F0502020204030204" pitchFamily="34" charset="0"/>
              </a:rPr>
              <a:t> distributor via the website.</a:t>
            </a:r>
          </a:p>
          <a:p>
            <a:r>
              <a:rPr lang="it-IT" sz="2000" dirty="0" err="1">
                <a:latin typeface="Aptos SemiBold" panose="020F0502020204030204" pitchFamily="34" charset="0"/>
              </a:rPr>
              <a:t>It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is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also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possible</a:t>
            </a:r>
            <a:r>
              <a:rPr lang="it-IT" sz="2000" dirty="0">
                <a:latin typeface="Aptos SemiBold" panose="020F0502020204030204" pitchFamily="34" charset="0"/>
              </a:rPr>
              <a:t> to </a:t>
            </a:r>
            <a:r>
              <a:rPr lang="it-IT" sz="2000" dirty="0" err="1">
                <a:latin typeface="Aptos SemiBold" panose="020F0502020204030204" pitchFamily="34" charset="0"/>
              </a:rPr>
              <a:t>view</a:t>
            </a:r>
            <a:r>
              <a:rPr lang="it-IT" sz="2000" dirty="0">
                <a:latin typeface="Aptos SemiBold" panose="020F0502020204030204" pitchFamily="34" charset="0"/>
              </a:rPr>
              <a:t> the location of </a:t>
            </a:r>
            <a:r>
              <a:rPr lang="it-IT" sz="2000" dirty="0" err="1">
                <a:latin typeface="Aptos SemiBold" panose="020F0502020204030204" pitchFamily="34" charset="0"/>
              </a:rPr>
              <a:t>each</a:t>
            </a:r>
            <a:r>
              <a:rPr lang="it-IT" sz="2000" dirty="0">
                <a:latin typeface="Aptos SemiBold" panose="020F0502020204030204" pitchFamily="34" charset="0"/>
              </a:rPr>
              <a:t> distributor with the help of the </a:t>
            </a:r>
            <a:r>
              <a:rPr lang="it-IT" sz="2000" dirty="0" err="1">
                <a:latin typeface="Aptos SemiBold" panose="020F0502020204030204" pitchFamily="34" charset="0"/>
              </a:rPr>
              <a:t>integrated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map</a:t>
            </a:r>
            <a:r>
              <a:rPr lang="it-IT" sz="2000" dirty="0">
                <a:latin typeface="Aptos SemiBold" panose="020F0502020204030204" pitchFamily="34" charset="0"/>
              </a:rPr>
              <a:t> in the </a:t>
            </a:r>
            <a:r>
              <a:rPr lang="it-IT" sz="2000" dirty="0" err="1">
                <a:latin typeface="Aptos SemiBold" panose="020F0502020204030204" pitchFamily="34" charset="0"/>
              </a:rPr>
              <a:t>frontpage</a:t>
            </a:r>
            <a:r>
              <a:rPr lang="it-IT" sz="2000" dirty="0">
                <a:latin typeface="Aptos SemiBold" panose="020F0502020204030204" pitchFamily="34" charset="0"/>
              </a:rPr>
              <a:t> of the website.</a:t>
            </a:r>
          </a:p>
          <a:p>
            <a:r>
              <a:rPr lang="it-IT" sz="2000" dirty="0">
                <a:latin typeface="Aptos SemiBold" panose="020F0502020204030204" pitchFamily="34" charset="0"/>
              </a:rPr>
              <a:t>A </a:t>
            </a:r>
            <a:r>
              <a:rPr lang="it-IT" sz="2000" dirty="0" err="1">
                <a:latin typeface="Aptos SemiBold" panose="020F0502020204030204" pitchFamily="34" charset="0"/>
              </a:rPr>
              <a:t>drastic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reduction</a:t>
            </a:r>
            <a:r>
              <a:rPr lang="it-IT" sz="2000" dirty="0">
                <a:latin typeface="Aptos SemiBold" panose="020F0502020204030204" pitchFamily="34" charset="0"/>
              </a:rPr>
              <a:t> of the </a:t>
            </a:r>
            <a:r>
              <a:rPr lang="it-IT" sz="2000" dirty="0" err="1">
                <a:latin typeface="Aptos SemiBold" panose="020F0502020204030204" pitchFamily="34" charset="0"/>
              </a:rPr>
              <a:t>average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distance</a:t>
            </a:r>
            <a:r>
              <a:rPr lang="it-IT" sz="2000" dirty="0">
                <a:latin typeface="Aptos SemiBold" panose="020F0502020204030204" pitchFamily="34" charset="0"/>
              </a:rPr>
              <a:t> </a:t>
            </a:r>
            <a:r>
              <a:rPr lang="it-IT" sz="2000" dirty="0" err="1">
                <a:latin typeface="Aptos SemiBold" panose="020F0502020204030204" pitchFamily="34" charset="0"/>
              </a:rPr>
              <a:t>between</a:t>
            </a:r>
            <a:r>
              <a:rPr lang="it-IT" sz="2000" dirty="0">
                <a:latin typeface="Aptos SemiBold" panose="020F0502020204030204" pitchFamily="34" charset="0"/>
              </a:rPr>
              <a:t> the </a:t>
            </a:r>
            <a:r>
              <a:rPr lang="it-IT" sz="2000" dirty="0" err="1">
                <a:latin typeface="Aptos SemiBold" panose="020F0502020204030204" pitchFamily="34" charset="0"/>
              </a:rPr>
              <a:t>citizens</a:t>
            </a:r>
            <a:r>
              <a:rPr lang="it-IT" sz="2000" dirty="0">
                <a:latin typeface="Aptos SemiBold" panose="020F0502020204030204" pitchFamily="34" charset="0"/>
              </a:rPr>
              <a:t> and </a:t>
            </a:r>
            <a:r>
              <a:rPr lang="it-IT" sz="2000" dirty="0" err="1">
                <a:latin typeface="Aptos SemiBold" panose="020F0502020204030204" pitchFamily="34" charset="0"/>
              </a:rPr>
              <a:t>essential</a:t>
            </a:r>
            <a:r>
              <a:rPr lang="it-IT" sz="2000" dirty="0">
                <a:latin typeface="Aptos SemiBold" panose="020F0502020204030204" pitchFamily="34" charset="0"/>
              </a:rPr>
              <a:t> products.</a:t>
            </a:r>
            <a:endParaRPr lang="it-IT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2D81301-D6DB-10B9-6C79-BA6574093481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6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95A5-26C7-7643-C5B2-55BD5661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3D773F-71E8-D410-F657-DA257D68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F0502020204030204" pitchFamily="34" charset="0"/>
              </a:rPr>
              <a:t>The </a:t>
            </a:r>
            <a:r>
              <a:rPr lang="it-IT" dirty="0" err="1">
                <a:latin typeface="Aptos SemiBold" panose="020F0502020204030204" pitchFamily="34" charset="0"/>
              </a:rPr>
              <a:t>pros</a:t>
            </a:r>
            <a:r>
              <a:rPr lang="it-IT" dirty="0">
                <a:latin typeface="Aptos SemiBold" panose="020F0502020204030204" pitchFamily="34" charset="0"/>
              </a:rPr>
              <a:t> of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r>
              <a:rPr lang="it-IT" dirty="0">
                <a:latin typeface="Bauhaus 93" panose="04030905020B02020C02" pitchFamily="82" charset="0"/>
              </a:rPr>
              <a:t> </a:t>
            </a:r>
            <a:r>
              <a:rPr lang="it-IT" dirty="0">
                <a:latin typeface="Aptos SemiBold" panose="020B0004020202020204" pitchFamily="34" charset="0"/>
              </a:rPr>
              <a:t>for the </a:t>
            </a:r>
            <a:r>
              <a:rPr lang="it-IT" dirty="0" err="1">
                <a:latin typeface="Aptos SemiBold" panose="020B0004020202020204" pitchFamily="34" charset="0"/>
              </a:rPr>
              <a:t>Administrators</a:t>
            </a:r>
            <a:endParaRPr lang="it-IT" dirty="0">
              <a:latin typeface="Aptos SemiBold" panose="020B00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E813EA-DF64-22D5-8B49-262F0D0D7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8821980" cy="4410084"/>
          </a:xfrm>
        </p:spPr>
        <p:txBody>
          <a:bodyPr>
            <a:normAutofit/>
          </a:bodyPr>
          <a:lstStyle/>
          <a:p>
            <a:r>
              <a:rPr lang="en-GB" sz="2000" noProof="0" dirty="0">
                <a:latin typeface="Aptos SemiBold" panose="020F0502020204030204" pitchFamily="34" charset="0"/>
              </a:rPr>
              <a:t>It highlights the real interest of the municipal authorities about the wellbeing of the citizens, by providing an overall better and expanded healthcare service.</a:t>
            </a:r>
          </a:p>
          <a:p>
            <a:r>
              <a:rPr lang="en-GB" sz="2000" dirty="0">
                <a:latin typeface="Aptos SemiBold" panose="020F0502020204030204" pitchFamily="34" charset="0"/>
              </a:rPr>
              <a:t>A more optimal management of the supplies present inside each distributor, thanks to the dedicated communication system that, with each purchase, automatically updates the main database. 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Each instalment can immediately report whenever there is a malfunction and/or a tampering.</a:t>
            </a:r>
          </a:p>
          <a:p>
            <a:endParaRPr lang="en-GB" noProof="0" dirty="0">
              <a:latin typeface="Aptos SemiBold" panose="020F0502020204030204" pitchFamily="34" charset="0"/>
            </a:endParaRPr>
          </a:p>
          <a:p>
            <a:endParaRPr lang="it-IT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FF5265E-3B36-E332-7D86-88DD7C934CB9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4545-06FE-D661-E439-8CB3074C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91CD99-0DD6-91FE-639D-B67D44C9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4733"/>
            <a:ext cx="9905998" cy="1652954"/>
          </a:xfrm>
        </p:spPr>
        <p:txBody>
          <a:bodyPr/>
          <a:lstStyle/>
          <a:p>
            <a:r>
              <a:rPr lang="it-IT" dirty="0">
                <a:latin typeface="Aptos SemiBold" panose="020B0004020202020204" pitchFamily="34" charset="0"/>
              </a:rPr>
              <a:t>How </a:t>
            </a:r>
            <a:r>
              <a:rPr lang="it-IT" dirty="0" err="1">
                <a:latin typeface="Aptos SemiBold" panose="020B0004020202020204" pitchFamily="34" charset="0"/>
              </a:rPr>
              <a:t>does</a:t>
            </a:r>
            <a:r>
              <a:rPr lang="it-IT" dirty="0">
                <a:latin typeface="Aptos SemiBold" panose="020B0004020202020204" pitchFamily="34" charset="0"/>
              </a:rPr>
              <a:t> </a:t>
            </a:r>
            <a:r>
              <a:rPr lang="it-IT" dirty="0" err="1">
                <a:latin typeface="Bauhaus 93" panose="04030905020B02020C02" pitchFamily="82" charset="0"/>
              </a:rPr>
              <a:t>SpotAid</a:t>
            </a:r>
            <a:r>
              <a:rPr lang="it-IT" dirty="0">
                <a:latin typeface="Bauhaus 93" panose="04030905020B02020C02" pitchFamily="82" charset="0"/>
              </a:rPr>
              <a:t> </a:t>
            </a:r>
            <a:r>
              <a:rPr lang="it-IT" dirty="0">
                <a:latin typeface="Aptos SemiBold" panose="020B0004020202020204" pitchFamily="34" charset="0"/>
              </a:rPr>
              <a:t>work?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77A127-B951-44A6-F8AF-B680F3C0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8821979" cy="4410084"/>
          </a:xfrm>
        </p:spPr>
        <p:txBody>
          <a:bodyPr>
            <a:normAutofit/>
          </a:bodyPr>
          <a:lstStyle/>
          <a:p>
            <a:r>
              <a:rPr lang="en-GB" sz="2000" noProof="0" dirty="0">
                <a:latin typeface="Aptos SemiBold" panose="020F0502020204030204" pitchFamily="34" charset="0"/>
              </a:rPr>
              <a:t>It is required the installation of special distributors, ideally smaller than the average ones, that can be easily placed and managed everywhere around the City.</a:t>
            </a:r>
          </a:p>
          <a:p>
            <a:r>
              <a:rPr lang="en-GB" sz="2000" noProof="0" dirty="0">
                <a:latin typeface="Aptos SemiBold" panose="020F0502020204030204" pitchFamily="34" charset="0"/>
              </a:rPr>
              <a:t>These distributors will communicate, by exchanging messages, with a dedicated server to keep it updated about their operative state and about the purchased/remaining products.</a:t>
            </a:r>
          </a:p>
          <a:p>
            <a:pPr marL="0" indent="0">
              <a:buNone/>
            </a:pPr>
            <a:endParaRPr lang="it-IT" dirty="0">
              <a:latin typeface="Aptos SemiBold" panose="020F0502020204030204" pitchFamily="34" charset="0"/>
            </a:endParaRPr>
          </a:p>
          <a:p>
            <a:endParaRPr lang="it-IT" dirty="0">
              <a:latin typeface="Aptos SemiBold" panose="020F050202020403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3B82199C-2040-9612-0C8C-AC887BCB9FFF}"/>
              </a:ext>
            </a:extLst>
          </p:cNvPr>
          <p:cNvSpPr txBox="1">
            <a:spLocks/>
          </p:cNvSpPr>
          <p:nvPr/>
        </p:nvSpPr>
        <p:spPr>
          <a:xfrm>
            <a:off x="9963392" y="198429"/>
            <a:ext cx="2168038" cy="61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 cap="none" dirty="0" err="1">
                <a:latin typeface="Bauhaus 93" panose="04030905020B02020C02" pitchFamily="82" charset="0"/>
              </a:rPr>
              <a:t>SpotAid</a:t>
            </a:r>
            <a:endParaRPr lang="it-IT" cap="none" dirty="0">
              <a:latin typeface="Bauhaus 93" panose="04030905020B02020C02" pitchFamily="82" charset="0"/>
            </a:endParaRPr>
          </a:p>
        </p:txBody>
      </p:sp>
      <p:pic>
        <p:nvPicPr>
          <p:cNvPr id="7" name="Immagine 6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EB418A50-8046-9DE4-8C8D-C4555FBD0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15" y="4567898"/>
            <a:ext cx="1671145" cy="1671145"/>
          </a:xfrm>
          <a:prstGeom prst="rect">
            <a:avLst/>
          </a:prstGeom>
        </p:spPr>
      </p:pic>
      <p:pic>
        <p:nvPicPr>
          <p:cNvPr id="9" name="Immagine 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2AD047BB-AF84-8BE5-107C-25B04894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130" y="4567897"/>
            <a:ext cx="1671146" cy="1671146"/>
          </a:xfrm>
          <a:prstGeom prst="rect">
            <a:avLst/>
          </a:prstGeom>
        </p:spPr>
      </p:pic>
      <p:pic>
        <p:nvPicPr>
          <p:cNvPr id="11" name="Immagine 10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8BB454A0-C975-A8FA-3269-94206259B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1" y="4663076"/>
            <a:ext cx="1480789" cy="1480789"/>
          </a:xfrm>
          <a:prstGeom prst="rect">
            <a:avLst/>
          </a:prstGeom>
        </p:spPr>
      </p:pic>
      <p:pic>
        <p:nvPicPr>
          <p:cNvPr id="13" name="Immagine 12" descr="Immagine che contiene schizzo, primavera, design&#10;&#10;Il contenuto generato dall'IA potrebbe non essere corretto.">
            <a:extLst>
              <a:ext uri="{FF2B5EF4-FFF2-40B4-BE49-F238E27FC236}">
                <a16:creationId xmlns:a16="http://schemas.microsoft.com/office/drawing/2014/main" id="{80C77654-3716-AD57-AC30-6818221F6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68" b="92078" l="10000" r="90000">
                        <a14:foregroundMark x1="53171" y1="44993" x2="53171" y2="44993"/>
                        <a14:foregroundMark x1="43171" y1="44544" x2="43171" y2="44544"/>
                        <a14:foregroundMark x1="45976" y1="92078" x2="45976" y2="92078"/>
                        <a14:foregroundMark x1="50732" y1="9268" x2="50732" y2="92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321215">
            <a:off x="2266496" y="4338283"/>
            <a:ext cx="1241041" cy="101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8919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531</TotalTime>
  <Words>568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Aptos ExtraBold</vt:lpstr>
      <vt:lpstr>Aptos SemiBold</vt:lpstr>
      <vt:lpstr>Arial</vt:lpstr>
      <vt:lpstr>Bauhaus 93</vt:lpstr>
      <vt:lpstr>Trebuchet MS</vt:lpstr>
      <vt:lpstr>Wingdings 3</vt:lpstr>
      <vt:lpstr>Sfaccettatura</vt:lpstr>
      <vt:lpstr>SpotAid</vt:lpstr>
      <vt:lpstr>Premise:</vt:lpstr>
      <vt:lpstr>Limits of the current distribution system:</vt:lpstr>
      <vt:lpstr>Why SpotAid?</vt:lpstr>
      <vt:lpstr>What even is SpotAid?</vt:lpstr>
      <vt:lpstr>The pros of SpotAid</vt:lpstr>
      <vt:lpstr>The pros of SpotAid for the Citizen</vt:lpstr>
      <vt:lpstr>The pros of SpotAid for the Administrators</vt:lpstr>
      <vt:lpstr>How does SpotAid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SSB Bat98</dc:creator>
  <cp:lastModifiedBy>SSB Bat98</cp:lastModifiedBy>
  <cp:revision>10</cp:revision>
  <dcterms:created xsi:type="dcterms:W3CDTF">2026-01-24T17:35:52Z</dcterms:created>
  <dcterms:modified xsi:type="dcterms:W3CDTF">2026-01-26T11:51:39Z</dcterms:modified>
</cp:coreProperties>
</file>