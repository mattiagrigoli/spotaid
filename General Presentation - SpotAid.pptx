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1"/>
  </p:sldMasterIdLst>
  <p:sldIdLst>
    <p:sldId id="256" r:id="rId2"/>
    <p:sldId id="257" r:id="rId3"/>
    <p:sldId id="266" r:id="rId4"/>
    <p:sldId id="268" r:id="rId5"/>
    <p:sldId id="269" r:id="rId6"/>
    <p:sldId id="270" r:id="rId7"/>
    <p:sldId id="271" r:id="rId8"/>
    <p:sldId id="272" r:id="rId9"/>
    <p:sldId id="27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8294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7001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5623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6197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69841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273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5107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9481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759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74800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‹N›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68535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3256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‹N›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732321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70990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84722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897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638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040F5B-D0F7-7C40-DF49-2D2FE2F543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it-IT" sz="8800" dirty="0" err="1">
                <a:latin typeface="Bauhaus 93" panose="04030905020B02020C02" pitchFamily="82" charset="0"/>
              </a:rPr>
              <a:t>SpotAid</a:t>
            </a:r>
            <a:endParaRPr lang="it-IT" sz="8800" dirty="0">
              <a:latin typeface="Bauhaus 93" panose="04030905020B02020C02" pitchFamily="82" charset="0"/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B2C81AD-A82E-618B-083E-DC8AC8E1B0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it-IT" sz="2800" cap="none" dirty="0">
                <a:latin typeface="Aptos SemiBold" panose="020F0502020204030204" pitchFamily="34" charset="0"/>
              </a:rPr>
              <a:t>… </a:t>
            </a:r>
            <a:r>
              <a:rPr lang="it-IT" sz="2800" cap="none" dirty="0" err="1">
                <a:latin typeface="Aptos SemiBold" panose="020F0502020204030204" pitchFamily="34" charset="0"/>
              </a:rPr>
              <a:t>at</a:t>
            </a:r>
            <a:r>
              <a:rPr lang="it-IT" sz="2800" cap="none" dirty="0">
                <a:latin typeface="Aptos SemiBold" panose="020F0502020204030204" pitchFamily="34" charset="0"/>
              </a:rPr>
              <a:t> the service of the Citizen</a:t>
            </a:r>
          </a:p>
        </p:txBody>
      </p:sp>
    </p:spTree>
    <p:extLst>
      <p:ext uri="{BB962C8B-B14F-4D97-AF65-F5344CB8AC3E}">
        <p14:creationId xmlns:p14="http://schemas.microsoft.com/office/powerpoint/2010/main" val="2410639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CF658C-C75D-6795-D24E-1124A9CDF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984733"/>
            <a:ext cx="9905998" cy="1652954"/>
          </a:xfrm>
        </p:spPr>
        <p:txBody>
          <a:bodyPr/>
          <a:lstStyle/>
          <a:p>
            <a:r>
              <a:rPr lang="it-IT" dirty="0">
                <a:latin typeface="Aptos SemiBold" panose="020F0502020204030204" pitchFamily="34" charset="0"/>
              </a:rPr>
              <a:t>Premise</a:t>
            </a:r>
            <a:r>
              <a:rPr lang="it-IT" dirty="0">
                <a:latin typeface="Aptos ExtraBold" panose="020F0502020204030204" pitchFamily="34" charset="0"/>
              </a:rPr>
              <a:t>: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D42FDA6-4505-21D6-5AE4-C0B836910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50400"/>
            <a:ext cx="8596668" cy="3880773"/>
          </a:xfrm>
        </p:spPr>
        <p:txBody>
          <a:bodyPr>
            <a:normAutofit/>
          </a:bodyPr>
          <a:lstStyle/>
          <a:p>
            <a:r>
              <a:rPr lang="en-GB" sz="2000" noProof="0" dirty="0">
                <a:latin typeface="Aptos SemiBold" panose="020F0502020204030204" pitchFamily="34" charset="0"/>
              </a:rPr>
              <a:t>The actual system’s distribution of pharmaceutical and </a:t>
            </a:r>
            <a:r>
              <a:rPr lang="en-GB" sz="2000" noProof="0" dirty="0" err="1">
                <a:latin typeface="Aptos SemiBold" panose="020F0502020204030204" pitchFamily="34" charset="0"/>
              </a:rPr>
              <a:t>parapharmaceutical</a:t>
            </a:r>
            <a:r>
              <a:rPr lang="en-GB" sz="2000" noProof="0" dirty="0">
                <a:latin typeface="Aptos SemiBold" panose="020F0502020204030204" pitchFamily="34" charset="0"/>
              </a:rPr>
              <a:t> products is managed by the pharmacies distributed on the municipal territory.</a:t>
            </a:r>
          </a:p>
          <a:p>
            <a:r>
              <a:rPr lang="en-GB" sz="2000" noProof="0" dirty="0">
                <a:latin typeface="Aptos SemiBold" panose="020F0502020204030204" pitchFamily="34" charset="0"/>
              </a:rPr>
              <a:t>Some of them have distributors just outside or </a:t>
            </a:r>
            <a:r>
              <a:rPr lang="en-GB" sz="2000" dirty="0">
                <a:latin typeface="Aptos SemiBold" panose="020F0502020204030204" pitchFamily="34" charset="0"/>
              </a:rPr>
              <a:t>close to them, managed by the pharmacies themselves, that guarantee a 24H service.</a:t>
            </a:r>
          </a:p>
          <a:p>
            <a:r>
              <a:rPr lang="en-GB" sz="2000" noProof="0" dirty="0">
                <a:latin typeface="Aptos SemiBold" panose="020F0502020204030204" pitchFamily="34" charset="0"/>
              </a:rPr>
              <a:t>During night hours and holidays, service is still granted by the presence of “pharmacies on duty”, that follow a specific schedule.</a:t>
            </a: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0C645AA5-D1B4-F0FF-0A9F-7DFB36AEE2AD}"/>
              </a:ext>
            </a:extLst>
          </p:cNvPr>
          <p:cNvSpPr txBox="1">
            <a:spLocks/>
          </p:cNvSpPr>
          <p:nvPr/>
        </p:nvSpPr>
        <p:spPr>
          <a:xfrm>
            <a:off x="9963392" y="198429"/>
            <a:ext cx="2168038" cy="612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effectLst>
                  <a:outerShdw blurRad="177800" dist="38100" dir="2700000" algn="tl">
                    <a:srgbClr val="000000">
                      <a:alpha val="24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it-IT" cap="none" dirty="0" err="1">
                <a:latin typeface="Bauhaus 93" panose="04030905020B02020C02" pitchFamily="82" charset="0"/>
              </a:rPr>
              <a:t>SpotAid</a:t>
            </a:r>
            <a:endParaRPr lang="it-IT" cap="none" dirty="0">
              <a:latin typeface="Bauhaus 93" panose="04030905020B02020C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53170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84A49-B2C6-1945-3A06-CE43CF23D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6508F8-1E52-2A0B-144C-52B4BDD8C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984733"/>
            <a:ext cx="9905998" cy="1652954"/>
          </a:xfrm>
        </p:spPr>
        <p:txBody>
          <a:bodyPr/>
          <a:lstStyle/>
          <a:p>
            <a:r>
              <a:rPr lang="it-IT" dirty="0">
                <a:latin typeface="Aptos SemiBold" panose="020F0502020204030204" pitchFamily="34" charset="0"/>
              </a:rPr>
              <a:t>Limits of the </a:t>
            </a:r>
            <a:r>
              <a:rPr lang="it-IT" dirty="0" err="1">
                <a:latin typeface="Aptos SemiBold" panose="020F0502020204030204" pitchFamily="34" charset="0"/>
              </a:rPr>
              <a:t>current</a:t>
            </a:r>
            <a:r>
              <a:rPr lang="it-IT" dirty="0">
                <a:latin typeface="Aptos SemiBold" panose="020F0502020204030204" pitchFamily="34" charset="0"/>
              </a:rPr>
              <a:t> </a:t>
            </a:r>
            <a:r>
              <a:rPr lang="it-IT" dirty="0" err="1">
                <a:latin typeface="Aptos SemiBold" panose="020F0502020204030204" pitchFamily="34" charset="0"/>
              </a:rPr>
              <a:t>distribution</a:t>
            </a:r>
            <a:r>
              <a:rPr lang="it-IT" dirty="0">
                <a:latin typeface="Aptos SemiBold" panose="020F0502020204030204" pitchFamily="34" charset="0"/>
              </a:rPr>
              <a:t> system: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E4CB43-C81C-D955-4883-5364A20D4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8821980" cy="4410084"/>
          </a:xfrm>
        </p:spPr>
        <p:txBody>
          <a:bodyPr>
            <a:normAutofit/>
          </a:bodyPr>
          <a:lstStyle/>
          <a:p>
            <a:r>
              <a:rPr lang="en-GB" sz="2000" noProof="0" dirty="0">
                <a:latin typeface="Aptos SemiBold" panose="020F0502020204030204" pitchFamily="34" charset="0"/>
              </a:rPr>
              <a:t>Pharmacies, even with their increase in number, and with a good coverage in the municipal territory, do not cover all the areas (City </a:t>
            </a:r>
            <a:r>
              <a:rPr lang="en-GB" sz="2000" noProof="0" dirty="0" err="1">
                <a:latin typeface="Aptos SemiBold" panose="020F0502020204030204" pitchFamily="34" charset="0"/>
              </a:rPr>
              <a:t>center</a:t>
            </a:r>
            <a:r>
              <a:rPr lang="en-GB" sz="2000" noProof="0" dirty="0">
                <a:latin typeface="Aptos SemiBold" panose="020F0502020204030204" pitchFamily="34" charset="0"/>
              </a:rPr>
              <a:t> and suburban areas)</a:t>
            </a:r>
          </a:p>
          <a:p>
            <a:r>
              <a:rPr lang="en-GB" sz="2000" noProof="0" dirty="0">
                <a:latin typeface="Aptos SemiBold" panose="020F0502020204030204" pitchFamily="34" charset="0"/>
              </a:rPr>
              <a:t>The automatic distributors active on the territory, being almost always somewhat close to the pharmacies, have the same issues: the area coverage. </a:t>
            </a:r>
          </a:p>
          <a:p>
            <a:r>
              <a:rPr lang="en-GB" sz="2000" noProof="0" dirty="0">
                <a:latin typeface="Aptos SemiBold" panose="020F0502020204030204" pitchFamily="34" charset="0"/>
              </a:rPr>
              <a:t>Since the managements of these </a:t>
            </a:r>
            <a:r>
              <a:rPr lang="en-GB" sz="2000" dirty="0">
                <a:latin typeface="Aptos SemiBold" panose="020F0502020204030204" pitchFamily="34" charset="0"/>
              </a:rPr>
              <a:t>d</a:t>
            </a:r>
            <a:r>
              <a:rPr lang="en-GB" sz="2000" noProof="0" dirty="0" err="1">
                <a:latin typeface="Aptos SemiBold" panose="020F0502020204030204" pitchFamily="34" charset="0"/>
              </a:rPr>
              <a:t>istributors</a:t>
            </a:r>
            <a:r>
              <a:rPr lang="en-GB" sz="2000" noProof="0" dirty="0">
                <a:latin typeface="Aptos SemiBold" panose="020F0502020204030204" pitchFamily="34" charset="0"/>
              </a:rPr>
              <a:t> currently relies on the pharmacies, the situation cannot improve unless by increasing the number of them, which still have a considerable cost and risk (for the saturation of the market).</a:t>
            </a:r>
            <a:endParaRPr lang="it-IT" sz="2000" dirty="0">
              <a:latin typeface="Aptos SemiBold" panose="020F0502020204030204" pitchFamily="34" charset="0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05B6FA56-F61D-5786-D239-A6D714BAF2A1}"/>
              </a:ext>
            </a:extLst>
          </p:cNvPr>
          <p:cNvSpPr txBox="1">
            <a:spLocks/>
          </p:cNvSpPr>
          <p:nvPr/>
        </p:nvSpPr>
        <p:spPr>
          <a:xfrm>
            <a:off x="9963392" y="198429"/>
            <a:ext cx="2168038" cy="612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effectLst>
                  <a:outerShdw blurRad="177800" dist="38100" dir="2700000" algn="tl">
                    <a:srgbClr val="000000">
                      <a:alpha val="24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it-IT" cap="none" dirty="0" err="1">
                <a:latin typeface="Bauhaus 93" panose="04030905020B02020C02" pitchFamily="82" charset="0"/>
              </a:rPr>
              <a:t>SpotAid</a:t>
            </a:r>
            <a:endParaRPr lang="it-IT" cap="none" dirty="0">
              <a:latin typeface="Bauhaus 93" panose="04030905020B02020C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1814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29AEB-28D6-6FF8-4F2B-B47BB1D46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69359C-4C5F-C1C3-3377-6DBBE2D7B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984733"/>
            <a:ext cx="9905998" cy="1652954"/>
          </a:xfrm>
        </p:spPr>
        <p:txBody>
          <a:bodyPr/>
          <a:lstStyle/>
          <a:p>
            <a:r>
              <a:rPr lang="it-IT" dirty="0" err="1">
                <a:latin typeface="Aptos SemiBold" panose="020F0502020204030204" pitchFamily="34" charset="0"/>
              </a:rPr>
              <a:t>Why</a:t>
            </a:r>
            <a:r>
              <a:rPr lang="it-IT" dirty="0">
                <a:latin typeface="Aptos SemiBold" panose="020F0502020204030204" pitchFamily="34" charset="0"/>
              </a:rPr>
              <a:t> </a:t>
            </a:r>
            <a:r>
              <a:rPr lang="it-IT" dirty="0" err="1">
                <a:latin typeface="Bauhaus 93" panose="04030905020B02020C02" pitchFamily="82" charset="0"/>
              </a:rPr>
              <a:t>SpotAid</a:t>
            </a:r>
            <a:r>
              <a:rPr lang="it-IT" dirty="0">
                <a:latin typeface="Aptos SemiBold" panose="020F0502020204030204" pitchFamily="34" charset="0"/>
              </a:rPr>
              <a:t>?</a:t>
            </a:r>
            <a:endParaRPr lang="it-IT" dirty="0">
              <a:latin typeface="Bauhaus 93" panose="04030905020B02020C02" pitchFamily="82" charset="0"/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619BA9-E2F2-64FD-4ADC-62C74B972F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8670099" cy="4410084"/>
          </a:xfrm>
        </p:spPr>
        <p:txBody>
          <a:bodyPr>
            <a:normAutofit/>
          </a:bodyPr>
          <a:lstStyle/>
          <a:p>
            <a:r>
              <a:rPr lang="it-IT" sz="2000" dirty="0">
                <a:latin typeface="Aptos SemiBold" panose="020F0502020204030204" pitchFamily="34" charset="0"/>
              </a:rPr>
              <a:t>The </a:t>
            </a:r>
            <a:r>
              <a:rPr lang="it-IT" sz="2000" dirty="0" err="1">
                <a:latin typeface="Aptos SemiBold" panose="020F0502020204030204" pitchFamily="34" charset="0"/>
              </a:rPr>
              <a:t>objective</a:t>
            </a:r>
            <a:r>
              <a:rPr lang="it-IT" sz="2000" dirty="0">
                <a:latin typeface="Aptos SemiBold" panose="020F0502020204030204" pitchFamily="34" charset="0"/>
              </a:rPr>
              <a:t> of </a:t>
            </a:r>
            <a:r>
              <a:rPr lang="it-IT" sz="2000" dirty="0" err="1">
                <a:latin typeface="Aptos SemiBold" panose="020F0502020204030204" pitchFamily="34" charset="0"/>
              </a:rPr>
              <a:t>this</a:t>
            </a:r>
            <a:r>
              <a:rPr lang="it-IT" sz="2000" dirty="0">
                <a:latin typeface="Aptos SemiBold" panose="020F0502020204030204" pitchFamily="34" charset="0"/>
              </a:rPr>
              <a:t> project </a:t>
            </a:r>
            <a:r>
              <a:rPr lang="it-IT" sz="2000" dirty="0" err="1">
                <a:latin typeface="Aptos SemiBold" panose="020F0502020204030204" pitchFamily="34" charset="0"/>
              </a:rPr>
              <a:t>is</a:t>
            </a:r>
            <a:r>
              <a:rPr lang="it-IT" sz="2000" dirty="0">
                <a:latin typeface="Aptos SemiBold" panose="020F0502020204030204" pitchFamily="34" charset="0"/>
              </a:rPr>
              <a:t> to </a:t>
            </a:r>
            <a:r>
              <a:rPr lang="it-IT" sz="2000" dirty="0" err="1">
                <a:latin typeface="Aptos SemiBold" panose="020F0502020204030204" pitchFamily="34" charset="0"/>
              </a:rPr>
              <a:t>overcome</a:t>
            </a:r>
            <a:r>
              <a:rPr lang="it-IT" sz="2000" dirty="0">
                <a:latin typeface="Aptos SemiBold" panose="020F0502020204030204" pitchFamily="34" charset="0"/>
              </a:rPr>
              <a:t> </a:t>
            </a:r>
            <a:r>
              <a:rPr lang="it-IT" sz="2000" dirty="0" err="1">
                <a:latin typeface="Aptos SemiBold" panose="020F0502020204030204" pitchFamily="34" charset="0"/>
              </a:rPr>
              <a:t>these</a:t>
            </a:r>
            <a:r>
              <a:rPr lang="it-IT" sz="2000" dirty="0">
                <a:latin typeface="Aptos SemiBold" panose="020F0502020204030204" pitchFamily="34" charset="0"/>
              </a:rPr>
              <a:t> </a:t>
            </a:r>
            <a:r>
              <a:rPr lang="it-IT" sz="2000" dirty="0" err="1">
                <a:latin typeface="Aptos SemiBold" panose="020F0502020204030204" pitchFamily="34" charset="0"/>
              </a:rPr>
              <a:t>limits</a:t>
            </a:r>
            <a:r>
              <a:rPr lang="it-IT" sz="2000" dirty="0">
                <a:latin typeface="Aptos SemiBold" panose="020F0502020204030204" pitchFamily="34" charset="0"/>
              </a:rPr>
              <a:t> of </a:t>
            </a:r>
            <a:r>
              <a:rPr lang="it-IT" sz="2000" dirty="0" err="1">
                <a:latin typeface="Aptos SemiBold" panose="020F0502020204030204" pitchFamily="34" charset="0"/>
              </a:rPr>
              <a:t>today’s</a:t>
            </a:r>
            <a:r>
              <a:rPr lang="it-IT" sz="2000" dirty="0">
                <a:latin typeface="Aptos SemiBold" panose="020F0502020204030204" pitchFamily="34" charset="0"/>
              </a:rPr>
              <a:t> </a:t>
            </a:r>
            <a:r>
              <a:rPr lang="it-IT" sz="2000" dirty="0" err="1">
                <a:latin typeface="Aptos SemiBold" panose="020F0502020204030204" pitchFamily="34" charset="0"/>
              </a:rPr>
              <a:t>distribution</a:t>
            </a:r>
            <a:r>
              <a:rPr lang="it-IT" sz="2000" dirty="0">
                <a:latin typeface="Aptos SemiBold" panose="020F0502020204030204" pitchFamily="34" charset="0"/>
              </a:rPr>
              <a:t> system, by </a:t>
            </a:r>
            <a:r>
              <a:rPr lang="it-IT" sz="2000" dirty="0" err="1">
                <a:latin typeface="Aptos SemiBold" panose="020F0502020204030204" pitchFamily="34" charset="0"/>
              </a:rPr>
              <a:t>creating</a:t>
            </a:r>
            <a:r>
              <a:rPr lang="it-IT" sz="2000" dirty="0">
                <a:latin typeface="Aptos SemiBold" panose="020F0502020204030204" pitchFamily="34" charset="0"/>
              </a:rPr>
              <a:t> a system </a:t>
            </a:r>
            <a:r>
              <a:rPr lang="it-IT" sz="2000" dirty="0" err="1">
                <a:latin typeface="Aptos SemiBold" panose="020F0502020204030204" pitchFamily="34" charset="0"/>
              </a:rPr>
              <a:t>that</a:t>
            </a:r>
            <a:r>
              <a:rPr lang="it-IT" sz="2000" dirty="0">
                <a:latin typeface="Aptos SemiBold" panose="020F0502020204030204" pitchFamily="34" charset="0"/>
              </a:rPr>
              <a:t> </a:t>
            </a:r>
            <a:r>
              <a:rPr lang="it-IT" sz="2000" dirty="0" err="1">
                <a:latin typeface="Aptos SemiBold" panose="020F0502020204030204" pitchFamily="34" charset="0"/>
              </a:rPr>
              <a:t>does</a:t>
            </a:r>
            <a:r>
              <a:rPr lang="it-IT" sz="2000" dirty="0">
                <a:latin typeface="Aptos SemiBold" panose="020F0502020204030204" pitchFamily="34" charset="0"/>
              </a:rPr>
              <a:t> </a:t>
            </a:r>
            <a:r>
              <a:rPr lang="it-IT" sz="2000" dirty="0" err="1">
                <a:latin typeface="Aptos SemiBold" panose="020F0502020204030204" pitchFamily="34" charset="0"/>
              </a:rPr>
              <a:t>not</a:t>
            </a:r>
            <a:r>
              <a:rPr lang="it-IT" sz="2000" dirty="0">
                <a:latin typeface="Aptos SemiBold" panose="020F0502020204030204" pitchFamily="34" charset="0"/>
              </a:rPr>
              <a:t> </a:t>
            </a:r>
            <a:r>
              <a:rPr lang="it-IT" sz="2000" dirty="0" err="1">
                <a:latin typeface="Aptos SemiBold" panose="020F0502020204030204" pitchFamily="34" charset="0"/>
              </a:rPr>
              <a:t>aim</a:t>
            </a:r>
            <a:r>
              <a:rPr lang="it-IT" sz="2000" dirty="0">
                <a:latin typeface="Aptos SemiBold" panose="020F0502020204030204" pitchFamily="34" charset="0"/>
              </a:rPr>
              <a:t> to </a:t>
            </a:r>
            <a:r>
              <a:rPr lang="it-IT" sz="2000" dirty="0" err="1">
                <a:latin typeface="Aptos SemiBold" panose="020F0502020204030204" pitchFamily="34" charset="0"/>
              </a:rPr>
              <a:t>substitute</a:t>
            </a:r>
            <a:r>
              <a:rPr lang="it-IT" sz="2000" dirty="0">
                <a:latin typeface="Aptos SemiBold" panose="020F0502020204030204" pitchFamily="34" charset="0"/>
              </a:rPr>
              <a:t> </a:t>
            </a:r>
            <a:r>
              <a:rPr lang="it-IT" sz="2000" dirty="0" err="1">
                <a:latin typeface="Aptos SemiBold" panose="020F0502020204030204" pitchFamily="34" charset="0"/>
              </a:rPr>
              <a:t>it</a:t>
            </a:r>
            <a:r>
              <a:rPr lang="it-IT" sz="2000" dirty="0">
                <a:latin typeface="Aptos SemiBold" panose="020F0502020204030204" pitchFamily="34" charset="0"/>
              </a:rPr>
              <a:t>, </a:t>
            </a:r>
            <a:r>
              <a:rPr lang="it-IT" sz="2000" dirty="0" err="1">
                <a:latin typeface="Aptos SemiBold" panose="020F0502020204030204" pitchFamily="34" charset="0"/>
              </a:rPr>
              <a:t>but</a:t>
            </a:r>
            <a:r>
              <a:rPr lang="it-IT" sz="2000" dirty="0">
                <a:latin typeface="Aptos SemiBold" panose="020F0502020204030204" pitchFamily="34" charset="0"/>
              </a:rPr>
              <a:t> to be </a:t>
            </a:r>
            <a:r>
              <a:rPr lang="it-IT" sz="2000" dirty="0" err="1">
                <a:latin typeface="Aptos SemiBold" panose="020F0502020204030204" pitchFamily="34" charset="0"/>
              </a:rPr>
              <a:t>integrated</a:t>
            </a:r>
            <a:r>
              <a:rPr lang="it-IT" sz="2000" dirty="0">
                <a:latin typeface="Aptos SemiBold" panose="020F0502020204030204" pitchFamily="34" charset="0"/>
              </a:rPr>
              <a:t> in </a:t>
            </a:r>
            <a:r>
              <a:rPr lang="it-IT" sz="2000" dirty="0" err="1">
                <a:latin typeface="Aptos SemiBold" panose="020F0502020204030204" pitchFamily="34" charset="0"/>
              </a:rPr>
              <a:t>it</a:t>
            </a:r>
            <a:r>
              <a:rPr lang="it-IT" sz="2000" dirty="0">
                <a:latin typeface="Aptos SemiBold" panose="020F0502020204030204" pitchFamily="34" charset="0"/>
              </a:rPr>
              <a:t>.</a:t>
            </a: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FD8183DE-E395-DF14-4F31-331AD83ACA37}"/>
              </a:ext>
            </a:extLst>
          </p:cNvPr>
          <p:cNvSpPr txBox="1">
            <a:spLocks/>
          </p:cNvSpPr>
          <p:nvPr/>
        </p:nvSpPr>
        <p:spPr>
          <a:xfrm>
            <a:off x="9963392" y="198429"/>
            <a:ext cx="2168038" cy="612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effectLst>
                  <a:outerShdw blurRad="177800" dist="38100" dir="2700000" algn="tl">
                    <a:srgbClr val="000000">
                      <a:alpha val="24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it-IT" cap="none" dirty="0" err="1">
                <a:latin typeface="Bauhaus 93" panose="04030905020B02020C02" pitchFamily="82" charset="0"/>
              </a:rPr>
              <a:t>SpotAid</a:t>
            </a:r>
            <a:endParaRPr lang="it-IT" cap="none" dirty="0">
              <a:latin typeface="Bauhaus 93" panose="04030905020B02020C02" pitchFamily="82" charset="0"/>
            </a:endParaRPr>
          </a:p>
        </p:txBody>
      </p:sp>
      <p:pic>
        <p:nvPicPr>
          <p:cNvPr id="6" name="Immagine 5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553B884-C2AF-286C-521F-0BEAFBF9D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3982" y="3902441"/>
            <a:ext cx="1964959" cy="1964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216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0E0F7-C2A0-30E3-3F88-41069AF01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3E2D62-5B54-4444-6A15-40F64D633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984733"/>
            <a:ext cx="9905998" cy="1652954"/>
          </a:xfrm>
        </p:spPr>
        <p:txBody>
          <a:bodyPr/>
          <a:lstStyle/>
          <a:p>
            <a:r>
              <a:rPr lang="it-IT" dirty="0" err="1">
                <a:latin typeface="Aptos SemiBold" panose="020F0502020204030204" pitchFamily="34" charset="0"/>
              </a:rPr>
              <a:t>What</a:t>
            </a:r>
            <a:r>
              <a:rPr lang="it-IT" dirty="0">
                <a:latin typeface="Aptos SemiBold" panose="020F0502020204030204" pitchFamily="34" charset="0"/>
              </a:rPr>
              <a:t> </a:t>
            </a:r>
            <a:r>
              <a:rPr lang="it-IT" dirty="0" err="1">
                <a:latin typeface="Aptos SemiBold" panose="020F0502020204030204" pitchFamily="34" charset="0"/>
              </a:rPr>
              <a:t>even</a:t>
            </a:r>
            <a:r>
              <a:rPr lang="it-IT" dirty="0">
                <a:latin typeface="Aptos SemiBold" panose="020F0502020204030204" pitchFamily="34" charset="0"/>
              </a:rPr>
              <a:t> </a:t>
            </a:r>
            <a:r>
              <a:rPr lang="it-IT" dirty="0" err="1">
                <a:latin typeface="Aptos SemiBold" panose="020F0502020204030204" pitchFamily="34" charset="0"/>
              </a:rPr>
              <a:t>is</a:t>
            </a:r>
            <a:r>
              <a:rPr lang="it-IT" dirty="0">
                <a:latin typeface="Aptos SemiBold" panose="020F0502020204030204" pitchFamily="34" charset="0"/>
              </a:rPr>
              <a:t> </a:t>
            </a:r>
            <a:r>
              <a:rPr lang="it-IT" dirty="0" err="1">
                <a:latin typeface="Bauhaus 93" panose="04030905020B02020C02" pitchFamily="82" charset="0"/>
              </a:rPr>
              <a:t>SpotAid</a:t>
            </a:r>
            <a:r>
              <a:rPr lang="it-IT" dirty="0">
                <a:latin typeface="Aptos SemiBold" panose="020F0502020204030204" pitchFamily="34" charset="0"/>
              </a:rPr>
              <a:t>?</a:t>
            </a:r>
            <a:endParaRPr lang="it-IT" dirty="0">
              <a:latin typeface="Bauhaus 93" panose="04030905020B02020C02" pitchFamily="82" charset="0"/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C1F44B1-91F0-B0EB-1C5F-11598C1C3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8821980" cy="4410084"/>
          </a:xfrm>
        </p:spPr>
        <p:txBody>
          <a:bodyPr>
            <a:normAutofit/>
          </a:bodyPr>
          <a:lstStyle/>
          <a:p>
            <a:r>
              <a:rPr lang="it-IT" sz="2000" dirty="0" err="1">
                <a:latin typeface="Aptos SemiBold" panose="020F0502020204030204" pitchFamily="34" charset="0"/>
              </a:rPr>
              <a:t>It’s</a:t>
            </a:r>
            <a:r>
              <a:rPr lang="it-IT" sz="2000" dirty="0">
                <a:latin typeface="Aptos SemiBold" panose="020F0502020204030204" pitchFamily="34" charset="0"/>
              </a:rPr>
              <a:t> a IOT system </a:t>
            </a:r>
            <a:r>
              <a:rPr lang="it-IT" sz="2000" dirty="0" err="1">
                <a:latin typeface="Aptos SemiBold" panose="020F0502020204030204" pitchFamily="34" charset="0"/>
              </a:rPr>
              <a:t>that</a:t>
            </a:r>
            <a:r>
              <a:rPr lang="it-IT" sz="2000" dirty="0">
                <a:latin typeface="Aptos SemiBold" panose="020F0502020204030204" pitchFamily="34" charset="0"/>
              </a:rPr>
              <a:t> </a:t>
            </a:r>
            <a:r>
              <a:rPr lang="it-IT" sz="2000" dirty="0" err="1">
                <a:latin typeface="Aptos SemiBold" panose="020F0502020204030204" pitchFamily="34" charset="0"/>
              </a:rPr>
              <a:t>aims</a:t>
            </a:r>
            <a:r>
              <a:rPr lang="it-IT" sz="2000" dirty="0">
                <a:latin typeface="Aptos SemiBold" panose="020F0502020204030204" pitchFamily="34" charset="0"/>
              </a:rPr>
              <a:t> to </a:t>
            </a:r>
            <a:r>
              <a:rPr lang="it-IT" sz="2000" dirty="0" err="1">
                <a:latin typeface="Aptos SemiBold" panose="020F0502020204030204" pitchFamily="34" charset="0"/>
              </a:rPr>
              <a:t>provide</a:t>
            </a:r>
            <a:r>
              <a:rPr lang="it-IT" sz="2000" dirty="0">
                <a:latin typeface="Aptos SemiBold" panose="020F0502020204030204" pitchFamily="34" charset="0"/>
              </a:rPr>
              <a:t>:</a:t>
            </a:r>
          </a:p>
          <a:p>
            <a:pPr lvl="1"/>
            <a:r>
              <a:rPr lang="it-IT" sz="1800" dirty="0">
                <a:latin typeface="Aptos SemiBold" panose="020F0502020204030204" pitchFamily="34" charset="0"/>
              </a:rPr>
              <a:t>A </a:t>
            </a:r>
            <a:r>
              <a:rPr lang="it-IT" sz="1800" dirty="0" err="1">
                <a:latin typeface="Aptos SemiBold" panose="020F0502020204030204" pitchFamily="34" charset="0"/>
              </a:rPr>
              <a:t>broader</a:t>
            </a:r>
            <a:r>
              <a:rPr lang="it-IT" sz="1800" dirty="0">
                <a:latin typeface="Aptos SemiBold" panose="020F0502020204030204" pitchFamily="34" charset="0"/>
              </a:rPr>
              <a:t> placement of </a:t>
            </a:r>
            <a:r>
              <a:rPr lang="it-IT" sz="1800" dirty="0" err="1">
                <a:latin typeface="Aptos SemiBold" panose="020F0502020204030204" pitchFamily="34" charset="0"/>
              </a:rPr>
              <a:t>even</a:t>
            </a:r>
            <a:r>
              <a:rPr lang="it-IT" sz="1800" dirty="0">
                <a:latin typeface="Aptos SemiBold" panose="020F0502020204030204" pitchFamily="34" charset="0"/>
              </a:rPr>
              <a:t> more </a:t>
            </a:r>
            <a:r>
              <a:rPr lang="it-IT" sz="1800" dirty="0" err="1">
                <a:latin typeface="Aptos SemiBold" panose="020F0502020204030204" pitchFamily="34" charset="0"/>
              </a:rPr>
              <a:t>automatic</a:t>
            </a:r>
            <a:r>
              <a:rPr lang="it-IT" sz="1800" dirty="0">
                <a:latin typeface="Aptos SemiBold" panose="020F0502020204030204" pitchFamily="34" charset="0"/>
              </a:rPr>
              <a:t> </a:t>
            </a:r>
            <a:r>
              <a:rPr lang="it-IT" sz="1800" dirty="0" err="1">
                <a:latin typeface="Aptos SemiBold" panose="020F0502020204030204" pitchFamily="34" charset="0"/>
              </a:rPr>
              <a:t>distributors</a:t>
            </a:r>
            <a:r>
              <a:rPr lang="it-IT" sz="1800" dirty="0">
                <a:latin typeface="Aptos SemiBold" panose="020F0502020204030204" pitchFamily="34" charset="0"/>
              </a:rPr>
              <a:t>;</a:t>
            </a:r>
          </a:p>
          <a:p>
            <a:pPr lvl="1"/>
            <a:r>
              <a:rPr lang="it-IT" sz="1800" dirty="0">
                <a:latin typeface="Aptos SemiBold" panose="020F0502020204030204" pitchFamily="34" charset="0"/>
              </a:rPr>
              <a:t>To be </a:t>
            </a:r>
            <a:r>
              <a:rPr lang="it-IT" sz="1800" dirty="0" err="1">
                <a:latin typeface="Aptos SemiBold" panose="020F0502020204030204" pitchFamily="34" charset="0"/>
              </a:rPr>
              <a:t>directly</a:t>
            </a:r>
            <a:r>
              <a:rPr lang="it-IT" sz="1800" dirty="0">
                <a:latin typeface="Aptos SemiBold" panose="020F0502020204030204" pitchFamily="34" charset="0"/>
              </a:rPr>
              <a:t> </a:t>
            </a:r>
            <a:r>
              <a:rPr lang="it-IT" sz="1800" dirty="0" err="1">
                <a:latin typeface="Aptos SemiBold" panose="020F0502020204030204" pitchFamily="34" charset="0"/>
              </a:rPr>
              <a:t>managed</a:t>
            </a:r>
            <a:r>
              <a:rPr lang="it-IT" sz="1800" dirty="0">
                <a:latin typeface="Aptos SemiBold" panose="020F0502020204030204" pitchFamily="34" charset="0"/>
              </a:rPr>
              <a:t> by the City </a:t>
            </a:r>
            <a:r>
              <a:rPr lang="it-IT" sz="1800" dirty="0" err="1">
                <a:latin typeface="Aptos SemiBold" panose="020F0502020204030204" pitchFamily="34" charset="0"/>
              </a:rPr>
              <a:t>Council</a:t>
            </a:r>
            <a:r>
              <a:rPr lang="it-IT" sz="1800" dirty="0">
                <a:latin typeface="Aptos SemiBold" panose="020F0502020204030204" pitchFamily="34" charset="0"/>
              </a:rPr>
              <a:t>; </a:t>
            </a:r>
          </a:p>
          <a:p>
            <a:pPr lvl="1"/>
            <a:r>
              <a:rPr lang="it-IT" sz="1800" dirty="0">
                <a:latin typeface="Aptos SemiBold" panose="020F0502020204030204" pitchFamily="34" charset="0"/>
              </a:rPr>
              <a:t>The </a:t>
            </a:r>
            <a:r>
              <a:rPr lang="it-IT" sz="1800" dirty="0" err="1">
                <a:latin typeface="Aptos SemiBold" panose="020F0502020204030204" pitchFamily="34" charset="0"/>
              </a:rPr>
              <a:t>realization</a:t>
            </a:r>
            <a:r>
              <a:rPr lang="it-IT" sz="1800" dirty="0">
                <a:latin typeface="Aptos SemiBold" panose="020F0502020204030204" pitchFamily="34" charset="0"/>
              </a:rPr>
              <a:t>  of a </a:t>
            </a:r>
            <a:r>
              <a:rPr lang="it-IT" sz="1800" dirty="0" err="1">
                <a:latin typeface="Aptos SemiBold" panose="020F0502020204030204" pitchFamily="34" charset="0"/>
              </a:rPr>
              <a:t>dedicated</a:t>
            </a:r>
            <a:r>
              <a:rPr lang="it-IT" sz="1800" dirty="0">
                <a:latin typeface="Aptos SemiBold" panose="020F0502020204030204" pitchFamily="34" charset="0"/>
              </a:rPr>
              <a:t> network to link the </a:t>
            </a:r>
            <a:r>
              <a:rPr lang="it-IT" sz="1800" dirty="0" err="1">
                <a:latin typeface="Aptos SemiBold" panose="020F0502020204030204" pitchFamily="34" charset="0"/>
              </a:rPr>
              <a:t>distributors</a:t>
            </a:r>
            <a:r>
              <a:rPr lang="it-IT" sz="1800" dirty="0">
                <a:latin typeface="Aptos SemiBold" panose="020F0502020204030204" pitchFamily="34" charset="0"/>
              </a:rPr>
              <a:t> to a management service;</a:t>
            </a:r>
          </a:p>
          <a:p>
            <a:pPr lvl="1"/>
            <a:r>
              <a:rPr lang="it-IT" sz="1800" dirty="0">
                <a:latin typeface="Aptos SemiBold" panose="020F0502020204030204" pitchFamily="34" charset="0"/>
              </a:rPr>
              <a:t>The </a:t>
            </a:r>
            <a:r>
              <a:rPr lang="it-IT" sz="1800" dirty="0" err="1">
                <a:latin typeface="Aptos SemiBold" panose="020F0502020204030204" pitchFamily="34" charset="0"/>
              </a:rPr>
              <a:t>creation</a:t>
            </a:r>
            <a:r>
              <a:rPr lang="it-IT" sz="1800" dirty="0">
                <a:latin typeface="Aptos SemiBold" panose="020F0502020204030204" pitchFamily="34" charset="0"/>
              </a:rPr>
              <a:t> of a website </a:t>
            </a:r>
            <a:r>
              <a:rPr lang="it-IT" sz="1800" dirty="0" err="1">
                <a:latin typeface="Aptos SemiBold" panose="020F0502020204030204" pitchFamily="34" charset="0"/>
              </a:rPr>
              <a:t>used</a:t>
            </a:r>
            <a:r>
              <a:rPr lang="it-IT" sz="1800" dirty="0">
                <a:latin typeface="Aptos SemiBold" panose="020F0502020204030204" pitchFamily="34" charset="0"/>
              </a:rPr>
              <a:t> to check </a:t>
            </a:r>
            <a:r>
              <a:rPr lang="it-IT" sz="1800" dirty="0" err="1">
                <a:latin typeface="Aptos SemiBold" panose="020F0502020204030204" pitchFamily="34" charset="0"/>
              </a:rPr>
              <a:t>useful</a:t>
            </a:r>
            <a:r>
              <a:rPr lang="it-IT" sz="1800" dirty="0">
                <a:latin typeface="Aptos SemiBold" panose="020F0502020204030204" pitchFamily="34" charset="0"/>
              </a:rPr>
              <a:t> </a:t>
            </a:r>
            <a:r>
              <a:rPr lang="it-IT" sz="1800" dirty="0" err="1">
                <a:latin typeface="Aptos SemiBold" panose="020F0502020204030204" pitchFamily="34" charset="0"/>
              </a:rPr>
              <a:t>informations</a:t>
            </a:r>
            <a:r>
              <a:rPr lang="it-IT" sz="1800" dirty="0">
                <a:latin typeface="Aptos SemiBold" panose="020F0502020204030204" pitchFamily="34" charset="0"/>
              </a:rPr>
              <a:t> for </a:t>
            </a:r>
            <a:r>
              <a:rPr lang="it-IT" sz="1800" dirty="0" err="1">
                <a:latin typeface="Aptos SemiBold" panose="020F0502020204030204" pitchFamily="34" charset="0"/>
              </a:rPr>
              <a:t>both</a:t>
            </a:r>
            <a:r>
              <a:rPr lang="it-IT" sz="1800" dirty="0">
                <a:latin typeface="Aptos SemiBold" panose="020F0502020204030204" pitchFamily="34" charset="0"/>
              </a:rPr>
              <a:t> the consumers and the service management team; </a:t>
            </a:r>
            <a:endParaRPr lang="it-IT" dirty="0">
              <a:latin typeface="Aptos SemiBold" panose="020F0502020204030204" pitchFamily="34" charset="0"/>
            </a:endParaRPr>
          </a:p>
          <a:p>
            <a:endParaRPr lang="it-IT" dirty="0">
              <a:latin typeface="Aptos SemiBold" panose="020F0502020204030204" pitchFamily="34" charset="0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92C859B0-FB28-7544-A260-7F3F3C2CC534}"/>
              </a:ext>
            </a:extLst>
          </p:cNvPr>
          <p:cNvSpPr txBox="1">
            <a:spLocks/>
          </p:cNvSpPr>
          <p:nvPr/>
        </p:nvSpPr>
        <p:spPr>
          <a:xfrm>
            <a:off x="9963392" y="198429"/>
            <a:ext cx="2168038" cy="612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effectLst>
                  <a:outerShdw blurRad="177800" dist="38100" dir="2700000" algn="tl">
                    <a:srgbClr val="000000">
                      <a:alpha val="24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it-IT" cap="none" dirty="0" err="1">
                <a:latin typeface="Bauhaus 93" panose="04030905020B02020C02" pitchFamily="82" charset="0"/>
              </a:rPr>
              <a:t>SpotAid</a:t>
            </a:r>
            <a:endParaRPr lang="it-IT" cap="none" dirty="0">
              <a:latin typeface="Bauhaus 93" panose="04030905020B02020C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2244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ACB96-9EE1-499A-C2EF-D16255A1D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F7CD49-6A27-0B1F-28CB-1DB727259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984733"/>
            <a:ext cx="9905998" cy="1652954"/>
          </a:xfrm>
        </p:spPr>
        <p:txBody>
          <a:bodyPr/>
          <a:lstStyle/>
          <a:p>
            <a:r>
              <a:rPr lang="it-IT" dirty="0">
                <a:latin typeface="Aptos SemiBold" panose="020F0502020204030204" pitchFamily="34" charset="0"/>
              </a:rPr>
              <a:t>The </a:t>
            </a:r>
            <a:r>
              <a:rPr lang="it-IT" dirty="0" err="1">
                <a:latin typeface="Aptos SemiBold" panose="020F0502020204030204" pitchFamily="34" charset="0"/>
              </a:rPr>
              <a:t>pros</a:t>
            </a:r>
            <a:r>
              <a:rPr lang="it-IT" dirty="0">
                <a:latin typeface="Aptos SemiBold" panose="020F0502020204030204" pitchFamily="34" charset="0"/>
              </a:rPr>
              <a:t> of </a:t>
            </a:r>
            <a:r>
              <a:rPr lang="it-IT" dirty="0" err="1">
                <a:latin typeface="Bauhaus 93" panose="04030905020B02020C02" pitchFamily="82" charset="0"/>
              </a:rPr>
              <a:t>SpotAid</a:t>
            </a:r>
            <a:endParaRPr lang="it-IT" dirty="0">
              <a:latin typeface="Bauhaus 93" panose="04030905020B02020C02" pitchFamily="82" charset="0"/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EF39B6-F2A9-18BA-8A13-6BEA5F7B8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8821980" cy="4410084"/>
          </a:xfrm>
        </p:spPr>
        <p:txBody>
          <a:bodyPr>
            <a:normAutofit/>
          </a:bodyPr>
          <a:lstStyle/>
          <a:p>
            <a:r>
              <a:rPr lang="en-GB" sz="2000" noProof="0" dirty="0" err="1">
                <a:latin typeface="Bauhaus 93" panose="04030905020B02020C02" pitchFamily="82" charset="0"/>
              </a:rPr>
              <a:t>SpotAid</a:t>
            </a:r>
            <a:r>
              <a:rPr lang="en-GB" sz="2000" noProof="0" dirty="0">
                <a:latin typeface="Bauhaus 93" panose="04030905020B02020C02" pitchFamily="82" charset="0"/>
              </a:rPr>
              <a:t> </a:t>
            </a:r>
            <a:r>
              <a:rPr lang="en-GB" sz="2000" noProof="0" dirty="0">
                <a:latin typeface="Aptos SemiBold" panose="020F0502020204030204" pitchFamily="34" charset="0"/>
              </a:rPr>
              <a:t>represents a sort of upgrade to the</a:t>
            </a:r>
            <a:r>
              <a:rPr lang="en-GB" sz="2000" dirty="0">
                <a:latin typeface="Aptos SemiBold" panose="020F0502020204030204" pitchFamily="34" charset="0"/>
              </a:rPr>
              <a:t> current</a:t>
            </a:r>
            <a:r>
              <a:rPr lang="en-GB" sz="2000" noProof="0" dirty="0">
                <a:latin typeface="Aptos SemiBold" panose="020F0502020204030204" pitchFamily="34" charset="0"/>
              </a:rPr>
              <a:t> system, since the new solution is going to be integrated in it and closes the gap for the needs of the citizens</a:t>
            </a:r>
          </a:p>
          <a:p>
            <a:r>
              <a:rPr lang="en-GB" sz="2000" noProof="0" dirty="0">
                <a:latin typeface="Aptos SemiBold" panose="020F0502020204030204" pitchFamily="34" charset="0"/>
              </a:rPr>
              <a:t>The management by the City Council guarantees the </a:t>
            </a:r>
            <a:r>
              <a:rPr lang="en-GB" sz="2000" dirty="0">
                <a:latin typeface="Aptos SemiBold" panose="020F0502020204030204" pitchFamily="34" charset="0"/>
              </a:rPr>
              <a:t>optimal placements of the distributors, based on various criteria (es: population density, distance to the pharmacies, etc…).</a:t>
            </a:r>
            <a:endParaRPr lang="en-GB" sz="2000" noProof="0" dirty="0">
              <a:latin typeface="Aptos SemiBold" panose="020F0502020204030204" pitchFamily="34" charset="0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D1D4F2C6-0C51-2E1C-4D54-2567AF964422}"/>
              </a:ext>
            </a:extLst>
          </p:cNvPr>
          <p:cNvSpPr txBox="1">
            <a:spLocks/>
          </p:cNvSpPr>
          <p:nvPr/>
        </p:nvSpPr>
        <p:spPr>
          <a:xfrm>
            <a:off x="9963392" y="198429"/>
            <a:ext cx="2168038" cy="612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effectLst>
                  <a:outerShdw blurRad="177800" dist="38100" dir="2700000" algn="tl">
                    <a:srgbClr val="000000">
                      <a:alpha val="24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it-IT" cap="none" dirty="0" err="1">
                <a:latin typeface="Bauhaus 93" panose="04030905020B02020C02" pitchFamily="82" charset="0"/>
              </a:rPr>
              <a:t>SpotAid</a:t>
            </a:r>
            <a:endParaRPr lang="it-IT" cap="none" dirty="0">
              <a:latin typeface="Bauhaus 93" panose="04030905020B02020C02" pitchFamily="82" charset="0"/>
            </a:endParaRPr>
          </a:p>
        </p:txBody>
      </p:sp>
      <p:pic>
        <p:nvPicPr>
          <p:cNvPr id="6" name="Immagine 5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9B0CBDED-20D6-1438-F4AD-66B755D0F7E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825766" y="4454525"/>
            <a:ext cx="1667179" cy="1667179"/>
          </a:xfrm>
          <a:prstGeom prst="rect">
            <a:avLst/>
          </a:prstGeom>
        </p:spPr>
      </p:pic>
      <p:pic>
        <p:nvPicPr>
          <p:cNvPr id="8" name="Immagine 7" descr="Immagine che contiene Elementi grafici, clipart, simbolo, bianco&#10;&#10;Il contenuto generato dall'IA potrebbe non essere corretto.">
            <a:extLst>
              <a:ext uri="{FF2B5EF4-FFF2-40B4-BE49-F238E27FC236}">
                <a16:creationId xmlns:a16="http://schemas.microsoft.com/office/drawing/2014/main" id="{DBD7AE11-0750-D1D2-BB61-A4846C654F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779" b="89872" l="4524" r="95952">
                        <a14:foregroundMark x1="14524" y1="64494" x2="14524" y2="64494"/>
                        <a14:foregroundMark x1="31310" y1="58207" x2="31310" y2="58207"/>
                        <a14:foregroundMark x1="75000" y1="57276" x2="75000" y2="57276"/>
                        <a14:foregroundMark x1="79524" y1="79511" x2="79524" y2="79511"/>
                        <a14:foregroundMark x1="27262" y1="83120" x2="27262" y2="83120"/>
                        <a14:foregroundMark x1="4524" y1="86263" x2="4524" y2="86263"/>
                        <a14:foregroundMark x1="95952" y1="85797" x2="95952" y2="8579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86285" y="4275531"/>
            <a:ext cx="1980375" cy="2025169"/>
          </a:xfrm>
          <a:prstGeom prst="rect">
            <a:avLst/>
          </a:prstGeom>
        </p:spPr>
      </p:pic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8ED70509-4E36-3517-AE43-53456F708F2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975477" y="4734594"/>
            <a:ext cx="420277" cy="420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206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E3C37-0F02-B5C7-B8E3-143544F74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447D4B-AC92-3D0E-828D-AE6D332A5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984733"/>
            <a:ext cx="9905998" cy="1652954"/>
          </a:xfrm>
        </p:spPr>
        <p:txBody>
          <a:bodyPr/>
          <a:lstStyle/>
          <a:p>
            <a:r>
              <a:rPr lang="it-IT" dirty="0">
                <a:latin typeface="Aptos SemiBold" panose="020B0004020202020204" pitchFamily="34" charset="0"/>
              </a:rPr>
              <a:t>The </a:t>
            </a:r>
            <a:r>
              <a:rPr lang="it-IT" dirty="0" err="1">
                <a:latin typeface="Aptos SemiBold" panose="020B0004020202020204" pitchFamily="34" charset="0"/>
              </a:rPr>
              <a:t>pros</a:t>
            </a:r>
            <a:r>
              <a:rPr lang="it-IT" dirty="0">
                <a:latin typeface="Aptos SemiBold" panose="020B0004020202020204" pitchFamily="34" charset="0"/>
              </a:rPr>
              <a:t> of </a:t>
            </a:r>
            <a:r>
              <a:rPr lang="it-IT" dirty="0" err="1">
                <a:latin typeface="Bauhaus 93" panose="04030905020B02020C02" pitchFamily="82" charset="0"/>
              </a:rPr>
              <a:t>SpotAid</a:t>
            </a:r>
            <a:r>
              <a:rPr lang="it-IT" dirty="0">
                <a:latin typeface="Bauhaus 93" panose="04030905020B02020C02" pitchFamily="82" charset="0"/>
              </a:rPr>
              <a:t> </a:t>
            </a:r>
            <a:r>
              <a:rPr lang="it-IT" dirty="0">
                <a:latin typeface="Aptos SemiBold" panose="020B0004020202020204" pitchFamily="34" charset="0"/>
              </a:rPr>
              <a:t>for the </a:t>
            </a:r>
            <a:r>
              <a:rPr lang="it-IT" dirty="0" err="1">
                <a:latin typeface="Aptos SemiBold" panose="020B0004020202020204" pitchFamily="34" charset="0"/>
              </a:rPr>
              <a:t>citizen</a:t>
            </a:r>
            <a:endParaRPr lang="it-IT" dirty="0">
              <a:latin typeface="Aptos SemiBold" panose="020B0004020202020204" pitchFamily="34" charset="0"/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D6CB411-07BC-48EB-9C00-1C6CF35A2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8821980" cy="4410084"/>
          </a:xfrm>
        </p:spPr>
        <p:txBody>
          <a:bodyPr>
            <a:normAutofit/>
          </a:bodyPr>
          <a:lstStyle/>
          <a:p>
            <a:r>
              <a:rPr lang="it-IT" sz="2000" dirty="0">
                <a:latin typeface="Aptos SemiBold" panose="020F0502020204030204" pitchFamily="34" charset="0"/>
              </a:rPr>
              <a:t>The </a:t>
            </a:r>
            <a:r>
              <a:rPr lang="it-IT" sz="2000" dirty="0" err="1">
                <a:latin typeface="Aptos SemiBold" panose="020F0502020204030204" pitchFamily="34" charset="0"/>
              </a:rPr>
              <a:t>possibility</a:t>
            </a:r>
            <a:r>
              <a:rPr lang="it-IT" sz="2000" dirty="0">
                <a:latin typeface="Aptos SemiBold" panose="020F0502020204030204" pitchFamily="34" charset="0"/>
              </a:rPr>
              <a:t> to do a </a:t>
            </a:r>
            <a:r>
              <a:rPr lang="it-IT" sz="2000" dirty="0" err="1">
                <a:latin typeface="Aptos SemiBold" panose="020F0502020204030204" pitchFamily="34" charset="0"/>
              </a:rPr>
              <a:t>prior</a:t>
            </a:r>
            <a:r>
              <a:rPr lang="it-IT" sz="2000" dirty="0">
                <a:latin typeface="Aptos SemiBold" panose="020F0502020204030204" pitchFamily="34" charset="0"/>
              </a:rPr>
              <a:t> check of the </a:t>
            </a:r>
            <a:r>
              <a:rPr lang="it-IT" sz="2000" dirty="0" err="1">
                <a:latin typeface="Aptos SemiBold" panose="020F0502020204030204" pitchFamily="34" charset="0"/>
              </a:rPr>
              <a:t>available</a:t>
            </a:r>
            <a:r>
              <a:rPr lang="it-IT" sz="2000" dirty="0">
                <a:latin typeface="Aptos SemiBold" panose="020F0502020204030204" pitchFamily="34" charset="0"/>
              </a:rPr>
              <a:t> product on </a:t>
            </a:r>
            <a:r>
              <a:rPr lang="it-IT" sz="2000" dirty="0" err="1">
                <a:latin typeface="Aptos SemiBold" panose="020F0502020204030204" pitchFamily="34" charset="0"/>
              </a:rPr>
              <a:t>each</a:t>
            </a:r>
            <a:r>
              <a:rPr lang="it-IT" sz="2000" dirty="0">
                <a:latin typeface="Aptos SemiBold" panose="020F0502020204030204" pitchFamily="34" charset="0"/>
              </a:rPr>
              <a:t> distributor via the website.</a:t>
            </a:r>
          </a:p>
          <a:p>
            <a:r>
              <a:rPr lang="it-IT" sz="2000" dirty="0" err="1">
                <a:latin typeface="Aptos SemiBold" panose="020F0502020204030204" pitchFamily="34" charset="0"/>
              </a:rPr>
              <a:t>It</a:t>
            </a:r>
            <a:r>
              <a:rPr lang="it-IT" sz="2000" dirty="0">
                <a:latin typeface="Aptos SemiBold" panose="020F0502020204030204" pitchFamily="34" charset="0"/>
              </a:rPr>
              <a:t> </a:t>
            </a:r>
            <a:r>
              <a:rPr lang="it-IT" sz="2000" dirty="0" err="1">
                <a:latin typeface="Aptos SemiBold" panose="020F0502020204030204" pitchFamily="34" charset="0"/>
              </a:rPr>
              <a:t>is</a:t>
            </a:r>
            <a:r>
              <a:rPr lang="it-IT" sz="2000" dirty="0">
                <a:latin typeface="Aptos SemiBold" panose="020F0502020204030204" pitchFamily="34" charset="0"/>
              </a:rPr>
              <a:t> </a:t>
            </a:r>
            <a:r>
              <a:rPr lang="it-IT" sz="2000" dirty="0" err="1">
                <a:latin typeface="Aptos SemiBold" panose="020F0502020204030204" pitchFamily="34" charset="0"/>
              </a:rPr>
              <a:t>also</a:t>
            </a:r>
            <a:r>
              <a:rPr lang="it-IT" sz="2000" dirty="0">
                <a:latin typeface="Aptos SemiBold" panose="020F0502020204030204" pitchFamily="34" charset="0"/>
              </a:rPr>
              <a:t> </a:t>
            </a:r>
            <a:r>
              <a:rPr lang="it-IT" sz="2000" dirty="0" err="1">
                <a:latin typeface="Aptos SemiBold" panose="020F0502020204030204" pitchFamily="34" charset="0"/>
              </a:rPr>
              <a:t>possible</a:t>
            </a:r>
            <a:r>
              <a:rPr lang="it-IT" sz="2000" dirty="0">
                <a:latin typeface="Aptos SemiBold" panose="020F0502020204030204" pitchFamily="34" charset="0"/>
              </a:rPr>
              <a:t> to </a:t>
            </a:r>
            <a:r>
              <a:rPr lang="it-IT" sz="2000" dirty="0" err="1">
                <a:latin typeface="Aptos SemiBold" panose="020F0502020204030204" pitchFamily="34" charset="0"/>
              </a:rPr>
              <a:t>view</a:t>
            </a:r>
            <a:r>
              <a:rPr lang="it-IT" sz="2000" dirty="0">
                <a:latin typeface="Aptos SemiBold" panose="020F0502020204030204" pitchFamily="34" charset="0"/>
              </a:rPr>
              <a:t> the location of </a:t>
            </a:r>
            <a:r>
              <a:rPr lang="it-IT" sz="2000" dirty="0" err="1">
                <a:latin typeface="Aptos SemiBold" panose="020F0502020204030204" pitchFamily="34" charset="0"/>
              </a:rPr>
              <a:t>each</a:t>
            </a:r>
            <a:r>
              <a:rPr lang="it-IT" sz="2000" dirty="0">
                <a:latin typeface="Aptos SemiBold" panose="020F0502020204030204" pitchFamily="34" charset="0"/>
              </a:rPr>
              <a:t> distributor with the help of the </a:t>
            </a:r>
            <a:r>
              <a:rPr lang="it-IT" sz="2000" dirty="0" err="1">
                <a:latin typeface="Aptos SemiBold" panose="020F0502020204030204" pitchFamily="34" charset="0"/>
              </a:rPr>
              <a:t>integrated</a:t>
            </a:r>
            <a:r>
              <a:rPr lang="it-IT" sz="2000" dirty="0">
                <a:latin typeface="Aptos SemiBold" panose="020F0502020204030204" pitchFamily="34" charset="0"/>
              </a:rPr>
              <a:t> </a:t>
            </a:r>
            <a:r>
              <a:rPr lang="it-IT" sz="2000" dirty="0" err="1">
                <a:latin typeface="Aptos SemiBold" panose="020F0502020204030204" pitchFamily="34" charset="0"/>
              </a:rPr>
              <a:t>map</a:t>
            </a:r>
            <a:r>
              <a:rPr lang="it-IT" sz="2000" dirty="0">
                <a:latin typeface="Aptos SemiBold" panose="020F0502020204030204" pitchFamily="34" charset="0"/>
              </a:rPr>
              <a:t> in the </a:t>
            </a:r>
            <a:r>
              <a:rPr lang="it-IT" sz="2000" dirty="0" err="1">
                <a:latin typeface="Aptos SemiBold" panose="020F0502020204030204" pitchFamily="34" charset="0"/>
              </a:rPr>
              <a:t>frontpage</a:t>
            </a:r>
            <a:r>
              <a:rPr lang="it-IT" sz="2000" dirty="0">
                <a:latin typeface="Aptos SemiBold" panose="020F0502020204030204" pitchFamily="34" charset="0"/>
              </a:rPr>
              <a:t> of the website.</a:t>
            </a:r>
          </a:p>
          <a:p>
            <a:r>
              <a:rPr lang="it-IT" sz="2000" dirty="0">
                <a:latin typeface="Aptos SemiBold" panose="020F0502020204030204" pitchFamily="34" charset="0"/>
              </a:rPr>
              <a:t>A </a:t>
            </a:r>
            <a:r>
              <a:rPr lang="it-IT" sz="2000" dirty="0" err="1">
                <a:latin typeface="Aptos SemiBold" panose="020F0502020204030204" pitchFamily="34" charset="0"/>
              </a:rPr>
              <a:t>drastic</a:t>
            </a:r>
            <a:r>
              <a:rPr lang="it-IT" sz="2000" dirty="0">
                <a:latin typeface="Aptos SemiBold" panose="020F0502020204030204" pitchFamily="34" charset="0"/>
              </a:rPr>
              <a:t> </a:t>
            </a:r>
            <a:r>
              <a:rPr lang="it-IT" sz="2000" dirty="0" err="1">
                <a:latin typeface="Aptos SemiBold" panose="020F0502020204030204" pitchFamily="34" charset="0"/>
              </a:rPr>
              <a:t>reduction</a:t>
            </a:r>
            <a:r>
              <a:rPr lang="it-IT" sz="2000" dirty="0">
                <a:latin typeface="Aptos SemiBold" panose="020F0502020204030204" pitchFamily="34" charset="0"/>
              </a:rPr>
              <a:t> of the </a:t>
            </a:r>
            <a:r>
              <a:rPr lang="it-IT" sz="2000" dirty="0" err="1">
                <a:latin typeface="Aptos SemiBold" panose="020F0502020204030204" pitchFamily="34" charset="0"/>
              </a:rPr>
              <a:t>average</a:t>
            </a:r>
            <a:r>
              <a:rPr lang="it-IT" sz="2000" dirty="0">
                <a:latin typeface="Aptos SemiBold" panose="020F0502020204030204" pitchFamily="34" charset="0"/>
              </a:rPr>
              <a:t> </a:t>
            </a:r>
            <a:r>
              <a:rPr lang="it-IT" sz="2000" dirty="0" err="1">
                <a:latin typeface="Aptos SemiBold" panose="020F0502020204030204" pitchFamily="34" charset="0"/>
              </a:rPr>
              <a:t>distance</a:t>
            </a:r>
            <a:r>
              <a:rPr lang="it-IT" sz="2000" dirty="0">
                <a:latin typeface="Aptos SemiBold" panose="020F0502020204030204" pitchFamily="34" charset="0"/>
              </a:rPr>
              <a:t> </a:t>
            </a:r>
            <a:r>
              <a:rPr lang="it-IT" sz="2000" dirty="0" err="1">
                <a:latin typeface="Aptos SemiBold" panose="020F0502020204030204" pitchFamily="34" charset="0"/>
              </a:rPr>
              <a:t>between</a:t>
            </a:r>
            <a:r>
              <a:rPr lang="it-IT" sz="2000" dirty="0">
                <a:latin typeface="Aptos SemiBold" panose="020F0502020204030204" pitchFamily="34" charset="0"/>
              </a:rPr>
              <a:t> the </a:t>
            </a:r>
            <a:r>
              <a:rPr lang="it-IT" sz="2000" dirty="0" err="1">
                <a:latin typeface="Aptos SemiBold" panose="020F0502020204030204" pitchFamily="34" charset="0"/>
              </a:rPr>
              <a:t>citizens</a:t>
            </a:r>
            <a:r>
              <a:rPr lang="it-IT" sz="2000" dirty="0">
                <a:latin typeface="Aptos SemiBold" panose="020F0502020204030204" pitchFamily="34" charset="0"/>
              </a:rPr>
              <a:t> and </a:t>
            </a:r>
            <a:r>
              <a:rPr lang="it-IT" sz="2000" dirty="0" err="1">
                <a:latin typeface="Aptos SemiBold" panose="020F0502020204030204" pitchFamily="34" charset="0"/>
              </a:rPr>
              <a:t>essential</a:t>
            </a:r>
            <a:r>
              <a:rPr lang="it-IT" sz="2000" dirty="0">
                <a:latin typeface="Aptos SemiBold" panose="020F0502020204030204" pitchFamily="34" charset="0"/>
              </a:rPr>
              <a:t> products.</a:t>
            </a:r>
            <a:endParaRPr lang="it-IT" dirty="0">
              <a:latin typeface="Aptos SemiBold" panose="020F0502020204030204" pitchFamily="34" charset="0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B2D81301-D6DB-10B9-6C79-BA6574093481}"/>
              </a:ext>
            </a:extLst>
          </p:cNvPr>
          <p:cNvSpPr txBox="1">
            <a:spLocks/>
          </p:cNvSpPr>
          <p:nvPr/>
        </p:nvSpPr>
        <p:spPr>
          <a:xfrm>
            <a:off x="9963392" y="198429"/>
            <a:ext cx="2168038" cy="612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effectLst>
                  <a:outerShdw blurRad="177800" dist="38100" dir="2700000" algn="tl">
                    <a:srgbClr val="000000">
                      <a:alpha val="24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it-IT" cap="none" dirty="0" err="1">
                <a:latin typeface="Bauhaus 93" panose="04030905020B02020C02" pitchFamily="82" charset="0"/>
              </a:rPr>
              <a:t>SpotAid</a:t>
            </a:r>
            <a:endParaRPr lang="it-IT" cap="none" dirty="0">
              <a:latin typeface="Bauhaus 93" panose="04030905020B02020C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5628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A95A5-26C7-7643-C5B2-55BD56619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3D773F-71E8-D410-F657-DA257D68C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984733"/>
            <a:ext cx="9905998" cy="1652954"/>
          </a:xfrm>
        </p:spPr>
        <p:txBody>
          <a:bodyPr/>
          <a:lstStyle/>
          <a:p>
            <a:r>
              <a:rPr lang="it-IT" dirty="0">
                <a:latin typeface="Aptos SemiBold" panose="020F0502020204030204" pitchFamily="34" charset="0"/>
              </a:rPr>
              <a:t>The </a:t>
            </a:r>
            <a:r>
              <a:rPr lang="it-IT" dirty="0" err="1">
                <a:latin typeface="Aptos SemiBold" panose="020F0502020204030204" pitchFamily="34" charset="0"/>
              </a:rPr>
              <a:t>pros</a:t>
            </a:r>
            <a:r>
              <a:rPr lang="it-IT" dirty="0">
                <a:latin typeface="Aptos SemiBold" panose="020F0502020204030204" pitchFamily="34" charset="0"/>
              </a:rPr>
              <a:t> of </a:t>
            </a:r>
            <a:r>
              <a:rPr lang="it-IT" dirty="0" err="1">
                <a:latin typeface="Bauhaus 93" panose="04030905020B02020C02" pitchFamily="82" charset="0"/>
              </a:rPr>
              <a:t>SpotAid</a:t>
            </a:r>
            <a:r>
              <a:rPr lang="it-IT" dirty="0">
                <a:latin typeface="Bauhaus 93" panose="04030905020B02020C02" pitchFamily="82" charset="0"/>
              </a:rPr>
              <a:t> </a:t>
            </a:r>
            <a:r>
              <a:rPr lang="it-IT" dirty="0">
                <a:latin typeface="Aptos ExtraBold" panose="020F0502020204030204" pitchFamily="34" charset="0"/>
              </a:rPr>
              <a:t>for the managers</a:t>
            </a:r>
            <a:endParaRPr lang="it-IT" dirty="0">
              <a:latin typeface="Bauhaus 93" panose="04030905020B02020C02" pitchFamily="82" charset="0"/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BE813EA-DF64-22D5-8B49-262F0D0D7C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8821980" cy="4410084"/>
          </a:xfrm>
        </p:spPr>
        <p:txBody>
          <a:bodyPr>
            <a:normAutofit/>
          </a:bodyPr>
          <a:lstStyle/>
          <a:p>
            <a:r>
              <a:rPr lang="en-GB" sz="2000" noProof="0" dirty="0">
                <a:latin typeface="Aptos SemiBold" panose="020F0502020204030204" pitchFamily="34" charset="0"/>
              </a:rPr>
              <a:t>It highlights the real interest of the municipal authorities about the wellbeing of the citizens, by providing an overall better and expanded healthcare service.</a:t>
            </a:r>
          </a:p>
          <a:p>
            <a:r>
              <a:rPr lang="en-GB" sz="2000" dirty="0">
                <a:latin typeface="Aptos SemiBold" panose="020F0502020204030204" pitchFamily="34" charset="0"/>
              </a:rPr>
              <a:t>A more optimal management of the supplies present inside each distributor, thanks to the dedicated communication system that, with each purchase, automatically updates the main database. </a:t>
            </a:r>
          </a:p>
          <a:p>
            <a:r>
              <a:rPr lang="en-GB" sz="2000" noProof="0" dirty="0">
                <a:latin typeface="Aptos SemiBold" panose="020F0502020204030204" pitchFamily="34" charset="0"/>
              </a:rPr>
              <a:t>Each instalment can immediately report whenever there is a malfunction and/or a tampering.</a:t>
            </a:r>
          </a:p>
          <a:p>
            <a:endParaRPr lang="en-GB" noProof="0" dirty="0">
              <a:latin typeface="Aptos SemiBold" panose="020F0502020204030204" pitchFamily="34" charset="0"/>
            </a:endParaRPr>
          </a:p>
          <a:p>
            <a:endParaRPr lang="it-IT" dirty="0">
              <a:latin typeface="Aptos SemiBold" panose="020F0502020204030204" pitchFamily="34" charset="0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6FF5265E-3B36-E332-7D86-88DD7C934CB9}"/>
              </a:ext>
            </a:extLst>
          </p:cNvPr>
          <p:cNvSpPr txBox="1">
            <a:spLocks/>
          </p:cNvSpPr>
          <p:nvPr/>
        </p:nvSpPr>
        <p:spPr>
          <a:xfrm>
            <a:off x="9963392" y="198429"/>
            <a:ext cx="2168038" cy="612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effectLst>
                  <a:outerShdw blurRad="177800" dist="38100" dir="2700000" algn="tl">
                    <a:srgbClr val="000000">
                      <a:alpha val="24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it-IT" cap="none" dirty="0" err="1">
                <a:latin typeface="Bauhaus 93" panose="04030905020B02020C02" pitchFamily="82" charset="0"/>
              </a:rPr>
              <a:t>SpotAid</a:t>
            </a:r>
            <a:endParaRPr lang="it-IT" cap="none" dirty="0">
              <a:latin typeface="Bauhaus 93" panose="04030905020B02020C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4619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E4545-06FE-D661-E439-8CB3074C5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91CD99-0DD6-91FE-639D-B67D44C9F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984733"/>
            <a:ext cx="9905998" cy="1652954"/>
          </a:xfrm>
        </p:spPr>
        <p:txBody>
          <a:bodyPr/>
          <a:lstStyle/>
          <a:p>
            <a:r>
              <a:rPr lang="it-IT" dirty="0">
                <a:latin typeface="Aptos SemiBold" panose="020B0004020202020204" pitchFamily="34" charset="0"/>
              </a:rPr>
              <a:t>How </a:t>
            </a:r>
            <a:r>
              <a:rPr lang="it-IT" dirty="0" err="1">
                <a:latin typeface="Aptos SemiBold" panose="020B0004020202020204" pitchFamily="34" charset="0"/>
              </a:rPr>
              <a:t>does</a:t>
            </a:r>
            <a:r>
              <a:rPr lang="it-IT" dirty="0">
                <a:latin typeface="Aptos SemiBold" panose="020B0004020202020204" pitchFamily="34" charset="0"/>
              </a:rPr>
              <a:t> </a:t>
            </a:r>
            <a:r>
              <a:rPr lang="it-IT" dirty="0" err="1">
                <a:latin typeface="Bauhaus 93" panose="04030905020B02020C02" pitchFamily="82" charset="0"/>
              </a:rPr>
              <a:t>SpotAid</a:t>
            </a:r>
            <a:r>
              <a:rPr lang="it-IT" dirty="0">
                <a:latin typeface="Bauhaus 93" panose="04030905020B02020C02" pitchFamily="82" charset="0"/>
              </a:rPr>
              <a:t> </a:t>
            </a:r>
            <a:r>
              <a:rPr lang="it-IT" dirty="0">
                <a:latin typeface="Aptos SemiBold" panose="020B0004020202020204" pitchFamily="34" charset="0"/>
              </a:rPr>
              <a:t>work?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077A127-B951-44A6-F8AF-B680F3C01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8821979" cy="4410084"/>
          </a:xfrm>
        </p:spPr>
        <p:txBody>
          <a:bodyPr>
            <a:normAutofit/>
          </a:bodyPr>
          <a:lstStyle/>
          <a:p>
            <a:r>
              <a:rPr lang="en-GB" sz="2000" noProof="0" dirty="0">
                <a:latin typeface="Aptos SemiBold" panose="020F0502020204030204" pitchFamily="34" charset="0"/>
              </a:rPr>
              <a:t>It is required the installation of special distributors, ideally smaller than the average ones, that can be easily placed and managed everywhere around the City.</a:t>
            </a:r>
          </a:p>
          <a:p>
            <a:r>
              <a:rPr lang="en-GB" sz="2000" noProof="0" dirty="0">
                <a:latin typeface="Aptos SemiBold" panose="020F0502020204030204" pitchFamily="34" charset="0"/>
              </a:rPr>
              <a:t>These distributors will communicate, by exchanging messages, with a dedicated server to keep it updated about their operative state and about the purchased/remaining products.</a:t>
            </a:r>
          </a:p>
          <a:p>
            <a:pPr marL="0" indent="0">
              <a:buNone/>
            </a:pPr>
            <a:endParaRPr lang="it-IT" dirty="0">
              <a:latin typeface="Aptos SemiBold" panose="020F0502020204030204" pitchFamily="34" charset="0"/>
            </a:endParaRPr>
          </a:p>
          <a:p>
            <a:endParaRPr lang="it-IT" dirty="0">
              <a:latin typeface="Aptos SemiBold" panose="020F0502020204030204" pitchFamily="34" charset="0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3B82199C-2040-9612-0C8C-AC887BCB9FFF}"/>
              </a:ext>
            </a:extLst>
          </p:cNvPr>
          <p:cNvSpPr txBox="1">
            <a:spLocks/>
          </p:cNvSpPr>
          <p:nvPr/>
        </p:nvSpPr>
        <p:spPr>
          <a:xfrm>
            <a:off x="9963392" y="198429"/>
            <a:ext cx="2168038" cy="612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effectLst>
                  <a:outerShdw blurRad="177800" dist="38100" dir="2700000" algn="tl">
                    <a:srgbClr val="000000">
                      <a:alpha val="24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it-IT" cap="none" dirty="0" err="1">
                <a:latin typeface="Bauhaus 93" panose="04030905020B02020C02" pitchFamily="82" charset="0"/>
              </a:rPr>
              <a:t>SpotAid</a:t>
            </a:r>
            <a:endParaRPr lang="it-IT" cap="none" dirty="0">
              <a:latin typeface="Bauhaus 93" panose="04030905020B02020C02" pitchFamily="82" charset="0"/>
            </a:endParaRPr>
          </a:p>
        </p:txBody>
      </p:sp>
      <p:pic>
        <p:nvPicPr>
          <p:cNvPr id="7" name="Immagine 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EB418A50-8046-9DE4-8C8D-C4555FBD03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215" y="4567898"/>
            <a:ext cx="1671145" cy="1671145"/>
          </a:xfrm>
          <a:prstGeom prst="rect">
            <a:avLst/>
          </a:prstGeom>
        </p:spPr>
      </p:pic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2AD047BB-AF84-8BE5-107C-25B0489447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9130" y="4567897"/>
            <a:ext cx="1671146" cy="1671146"/>
          </a:xfrm>
          <a:prstGeom prst="rect">
            <a:avLst/>
          </a:prstGeom>
        </p:spPr>
      </p:pic>
      <p:pic>
        <p:nvPicPr>
          <p:cNvPr id="11" name="Immagine 10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8BB454A0-C975-A8FA-3269-94206259BE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11" y="4663076"/>
            <a:ext cx="1480789" cy="1480789"/>
          </a:xfrm>
          <a:prstGeom prst="rect">
            <a:avLst/>
          </a:prstGeom>
        </p:spPr>
      </p:pic>
      <p:pic>
        <p:nvPicPr>
          <p:cNvPr id="13" name="Immagine 12" descr="Immagine che contiene schizzo, primavera, design&#10;&#10;Il contenuto generato dall'IA potrebbe non essere corretto.">
            <a:extLst>
              <a:ext uri="{FF2B5EF4-FFF2-40B4-BE49-F238E27FC236}">
                <a16:creationId xmlns:a16="http://schemas.microsoft.com/office/drawing/2014/main" id="{80C77654-3716-AD57-AC30-6818221F60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268" b="92078" l="10000" r="90000">
                        <a14:foregroundMark x1="53171" y1="44993" x2="53171" y2="44993"/>
                        <a14:foregroundMark x1="43171" y1="44544" x2="43171" y2="44544"/>
                        <a14:foregroundMark x1="45976" y1="92078" x2="45976" y2="92078"/>
                        <a14:foregroundMark x1="50732" y1="9268" x2="50732" y2="926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0321215">
            <a:off x="2266496" y="4338283"/>
            <a:ext cx="1241041" cy="1012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708919"/>
      </p:ext>
    </p:extLst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339</TotalTime>
  <Words>568</Words>
  <Application>Microsoft Office PowerPoint</Application>
  <PresentationFormat>Widescreen</PresentationFormat>
  <Paragraphs>40</Paragraphs>
  <Slides>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6" baseType="lpstr">
      <vt:lpstr>Aptos ExtraBold</vt:lpstr>
      <vt:lpstr>Aptos SemiBold</vt:lpstr>
      <vt:lpstr>Arial</vt:lpstr>
      <vt:lpstr>Bauhaus 93</vt:lpstr>
      <vt:lpstr>Trebuchet MS</vt:lpstr>
      <vt:lpstr>Wingdings 3</vt:lpstr>
      <vt:lpstr>Sfaccettatura</vt:lpstr>
      <vt:lpstr>SpotAid</vt:lpstr>
      <vt:lpstr>Premise:</vt:lpstr>
      <vt:lpstr>Limits of the current distribution system:</vt:lpstr>
      <vt:lpstr>Why SpotAid?</vt:lpstr>
      <vt:lpstr>What even is SpotAid?</vt:lpstr>
      <vt:lpstr>The pros of SpotAid</vt:lpstr>
      <vt:lpstr>The pros of SpotAid for the citizen</vt:lpstr>
      <vt:lpstr>The pros of SpotAid for the managers</vt:lpstr>
      <vt:lpstr>How does SpotAid work?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SSB Bat98</dc:creator>
  <cp:lastModifiedBy>SSB Bat98</cp:lastModifiedBy>
  <cp:revision>7</cp:revision>
  <dcterms:created xsi:type="dcterms:W3CDTF">2026-01-24T17:35:52Z</dcterms:created>
  <dcterms:modified xsi:type="dcterms:W3CDTF">2026-01-25T17:13:01Z</dcterms:modified>
</cp:coreProperties>
</file>